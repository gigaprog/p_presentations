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sldIdLst>
    <p:sldId id="256" r:id="rId6"/>
    <p:sldId id="259" r:id="rId7"/>
    <p:sldId id="261" r:id="rId8"/>
    <p:sldId id="260" r:id="rId9"/>
    <p:sldId id="258" r:id="rId10"/>
    <p:sldId id="262" r:id="rId11"/>
    <p:sldId id="263" r:id="rId12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65933763" val="1228" revOS="4"/>
      <pr:smFileRevision xmlns:pr="smNativeData" xmlns="smNativeData" dt="1765933763" val="101"/>
      <pr:guideOptions xmlns:pr="smNativeData" xmlns="smNativeData" dt="1765933763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Objects="1" showGuides="1">
      <p:cViewPr varScale="1">
        <p:scale>
          <a:sx n="70" d="100"/>
          <a:sy n="70" d="100"/>
        </p:scale>
        <p:origin x="384" y="555"/>
      </p:cViewPr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15" d="100"/>
        <a:sy n="15" d="100"/>
      </p:scale>
      <p:origin x="0" y="0"/>
    </p:cViewPr>
  </p:sorterViewPr>
  <p:notesViewPr>
    <p:cSldViewPr snapToObjects="1" showGuides="1">
      <p:cViewPr>
        <p:scale>
          <a:sx n="70" d="100"/>
          <a:sy n="70" d="100"/>
        </p:scale>
        <p:origin x="384" y="555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/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B3A2F46-08C6-6FD9-8882-FE8C61CC7EAB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B3A6036-78C6-6F96-8882-8EC32ECC7EDB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B3A5CD1-9FC6-6FAA-8882-69FF12CC7E3C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B3A0E09-47C6-6FF8-8882-B1AD40CC7EE4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A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A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B3A08AA-E4C6-6FFE-8882-12AB46CC7E47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B3A0D90-DEC6-6FFB-8882-28AE43CC7E7D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B3A34E3-ADC6-6FC2-8882-5B977ACC7E0E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B3A1267-29C6-6FE4-8882-DFB15CCC7E8A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A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A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B3A7D05-4BC6-6F8B-8882-BDDE33CC7EE8}" type="datetime1">
              <a:t/>
            </a:fld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B3A5C6C-22C6-6FAA-8882-D4FF12CC7E81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B3A0218-56C6-6FF4-8882-A0A14CCC7EF5}" type="datetime1">
              <a:t/>
            </a:fld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B3A40DE-90C6-6FB6-8882-66E30ECC7E33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B3A57F0-BEC6-6FA1-8882-48F419CC7E1D}" type="datetime1">
              <a:t/>
            </a:fld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B3A0E4D-03C6-6FF8-8882-F5AD40CC7EA0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A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B3A2994-DAC6-6FDF-8882-2C8A67CC7E79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NwY0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B3A26F1-BFC6-6FD0-8882-498568CC7E1C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A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B3A0DEB-A5C6-6FFB-8882-53AE43CC7E06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B3A3DAB-E5C6-6FCB-8882-139E73CC7E46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49Ij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AAAAAAAAA"/>
              </a:ext>
            </a:extLst>
          </p:cNvSpPr>
          <p:nvPr>
            <p:ph idx="1"/>
          </p:nvPr>
        </p:nvSpPr>
        <p:spPr/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B3A3FD1-9FC6-6FC9-8882-699C71CC7E3C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E6c3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B3A23AE-E0C6-6FD5-8882-16806DCC7E43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A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numCol="1" spcCol="215900" anchor="b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A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B3A1A1E-50C6-6FEC-8882-A6B954CC7EF3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2B3A0CB7-F9C6-6FFA-8882-0FAF42CC7E5A}" type="slidenum">
              <a:t/>
            </a:fld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P//////////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P//////////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P//////////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  <a:fld id="{2B3A1547-09C6-6FE3-8882-FFB65BCC7EAA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P//////////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P//////////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2B3A77CB-85C6-6F81-8882-73D439CC7E26}" type="slidenum">
              <a:t/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AAAAAAAAAA"/>
              </a:ext>
            </a:extLst>
          </p:cNvSpPr>
          <p:nvPr>
            <p:ph type="ctrTitle"/>
          </p:nvPr>
        </p:nvSpPr>
        <p:spPr/>
        <p:txBody>
          <a:bodyPr/>
          <a:lstStyle/>
          <a:p>
            <a:pPr/>
            <a:r>
              <a:t>AI PyTorch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AAAAAAAAAA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Why PyTorch vs Tensorflow/Jax?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Q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600" cap="none"/>
            </a:pPr>
            <a:r>
              <a:t>PyTorch used much more in Research / Academia</a:t>
            </a:r>
          </a:p>
          <a:p>
            <a:pPr>
              <a:defRPr sz="2600" cap="none"/>
            </a:pPr>
            <a:r>
              <a:t>PyTorch has dynamic computation graphs</a:t>
            </a:r>
          </a:p>
          <a:p>
            <a:pPr>
              <a:defRPr sz="2600" cap="none"/>
            </a:pPr>
            <a:r>
              <a:t>PyTorch easier to tweak things once you get past the basics</a:t>
            </a:r>
          </a:p>
          <a:p>
            <a:pPr>
              <a:defRPr sz="2600" cap="none"/>
            </a:pPr>
            <a:r>
              <a:t>PyTorch easier to debug</a:t>
            </a:r>
          </a:p>
          <a:p>
            <a:pPr>
              <a:defRPr sz="2600" cap="none"/>
            </a:pPr>
            <a:r>
              <a:t>Why Tensorflow / Jax?</a:t>
            </a:r>
          </a:p>
          <a:p>
            <a:pPr lvl="1">
              <a:defRPr sz="2200" cap="none"/>
            </a:pPr>
            <a:r>
              <a:t>Easier to get started (but harder to tweek afterward)</a:t>
            </a:r>
          </a:p>
          <a:p>
            <a:pPr lvl="1">
              <a:defRPr sz="2200" cap="none"/>
            </a:pPr>
            <a:r>
              <a:t>Jax (also Google) might be taking over from Tensorflow - but not for beginners</a:t>
            </a:r>
          </a:p>
          <a:p>
            <a:pPr lvl="2">
              <a:defRPr sz="1800" cap="none"/>
            </a:pPr>
            <a:r>
              <a:t>Numpy-like syntax </a:t>
            </a:r>
          </a:p>
          <a:p>
            <a:pPr lvl="1">
              <a:defRPr sz="2200" cap="none"/>
            </a:pPr>
            <a:r>
              <a:t>Jax is faster - sometimes 4-5x</a:t>
            </a:r>
          </a:p>
          <a:p>
            <a:pPr lvl="2">
              <a:defRPr sz="1800" cap="none"/>
            </a:pPr>
            <a:r>
              <a:t>Just in time compilation</a:t>
            </a:r>
          </a:p>
          <a:p>
            <a:pPr lvl="2">
              <a:defRPr sz="1800" cap="none"/>
            </a:pPr>
            <a:r>
              <a:t>Accelerated Linear Algebra</a:t>
            </a:r>
          </a:p>
          <a:p>
            <a:pPr lvl="1"/>
            <a:r>
              <a:rPr sz="2200" cap="none"/>
              <a:t>‘J’ is just-in-time compilation, ‘A’ is Automatic Differentiation/Derivative, ‘X’ - Xcelerated Linear Algebra</a:t>
            </a:r>
            <a:endParaRPr sz="22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U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Conda install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pPr/>
            <a:r>
              <a:t>Prefer using ‘conda install’ over ’pip install’, like:</a:t>
            </a:r>
          </a:p>
          <a:p>
            <a:pPr lvl="1"/>
            <a:r>
              <a:t>conda install pytorch torchvision torchaudio cudatoolkit=10.2 -c</a:t>
            </a:r>
          </a:p>
          <a:p>
            <a:pPr lvl="1"/>
            <a:r>
              <a:t>conda install -c conda-forge tensorboard</a:t>
            </a:r>
          </a:p>
          <a:p>
            <a:pPr lvl="2"/>
            <a:r>
              <a:t>*tensorboard was made for tensorflow BUT can be used w/PyTorch</a:t>
            </a:r>
          </a:p>
          <a:p>
            <a:pPr lvl="1"/>
            <a:r>
              <a:t>pip install torchviz</a:t>
            </a:r>
          </a:p>
          <a:p>
            <a:pPr lvl="2"/>
            <a:r>
              <a:t>*sometimes conda install option not available.</a:t>
            </a:r>
          </a:p>
          <a:p>
            <a:pPr lvl="2"/>
            <a:r>
              <a:t>*Torchviz requires GraphViz to be installed first.</a:t>
            </a:r>
          </a:p>
          <a:p>
            <a:pPr/>
            <a:r>
              <a:t>Often need to create environment (like PyTorchStepByStep):</a:t>
            </a:r>
          </a:p>
          <a:p>
            <a:pPr lvl="1"/>
            <a:r>
              <a:t>conda env create -f environment.yaml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Computer PyTorch installs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pPr/>
            <a:r>
              <a:t>main Win10 Ryzen5 7600X3D 4100Mhz 64gb RTX3060 12gb:</a:t>
            </a:r>
          </a:p>
          <a:p>
            <a:pPr lvl="1"/>
            <a:r>
              <a:t>Has Python 3.9 PyTorch that works in Visual Studio</a:t>
            </a:r>
          </a:p>
          <a:p>
            <a:pPr/>
            <a:r>
              <a:t>Ubuntu Ryzen 5 5500 2400Mhz 32gb RTX4060Ti 16gb:</a:t>
            </a:r>
          </a:p>
          <a:p>
            <a:pPr lvl="1">
              <a:defRPr sz="2000" cap="none"/>
            </a:pPr>
            <a:r>
              <a:t>Visual Studio Code will run the conda environments including:</a:t>
            </a:r>
          </a:p>
          <a:p>
            <a:pPr lvl="2">
              <a:defRPr sz="1600" cap="none"/>
            </a:pPr>
            <a:r>
              <a:t>ldm</a:t>
            </a:r>
          </a:p>
          <a:p>
            <a:pPr lvl="2">
              <a:defRPr sz="1600" cap="none"/>
            </a:pPr>
            <a:r>
              <a:t>pytorchbook</a:t>
            </a:r>
          </a:p>
          <a:p>
            <a:pPr lvl="1">
              <a:defRPr sz="2000" cap="none"/>
            </a:pPr>
            <a:r>
              <a:t>*But how to debug on Linux?!?</a:t>
            </a:r>
          </a:p>
          <a:p>
            <a:pPr lvl="1">
              <a:defRPr sz="2000" cap="none"/>
            </a:pPr>
            <a:r>
              <a:t>The pytorch jupyter notebooks seem to work well with it.</a:t>
            </a:r>
          </a:p>
          <a:p>
            <a:pPr lvl="1"/>
            <a:r>
              <a:rPr sz="2000" cap="none"/>
              <a:t>Probably better to ‘conda pytorchnotebook’ and then ‘code’ to get into Visual Studio Code</a:t>
            </a:r>
            <a:endParaRPr sz="2000" cap="none"/>
          </a:p>
          <a:p>
            <a:pPr/>
            <a:r>
              <a:t>Laptop Win11 i5-134020H 2100Mhz 16gb RTX4050 6gb:</a:t>
            </a:r>
          </a:p>
          <a:p>
            <a:pPr lvl="1"/>
            <a:r>
              <a:t>Has Python 3.9 PyTorch that works in Visual Studio</a:t>
            </a:r>
          </a:p>
          <a:p>
            <a:pPr/>
            <a:r>
              <a:t>Gaming Win11 Ryzen9 7900X(12c) 32gb RTX5070 12gb</a:t>
            </a:r>
          </a:p>
          <a:p>
            <a:pPr/>
            <a:r>
              <a:t>Mac Mini 16GB: PyTorch is possible but slow</a:t>
            </a:r>
          </a:p>
          <a:p>
            <a:pPr lvl="1"/>
          </a:p>
          <a:p>
            <a:pPr lvl="1"/>
          </a:p>
          <a:p>
            <a:pPr lvl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Books and what they cover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400" cap="none"/>
            </a:pPr>
            <a:r>
              <a:t>Deep Learning with PyTorch step-by-step :</a:t>
            </a:r>
          </a:p>
          <a:p>
            <a:pPr lvl="1">
              <a:defRPr sz="2000" cap="none"/>
            </a:pPr>
            <a:r>
              <a:t>Daniel Voigt Godoy, 2024 v1.2, PyTorch</a:t>
            </a:r>
          </a:p>
          <a:p>
            <a:pPr lvl="1">
              <a:defRPr sz="2000" cap="none"/>
            </a:pPr>
            <a:r>
              <a:t>Have paperback &amp; Kindle version. There is Volume II and III, though, I don’t have.</a:t>
            </a:r>
          </a:p>
          <a:p>
            <a:pPr lvl="1">
              <a:defRPr sz="2000" cap="none"/>
            </a:pPr>
            <a:r>
              <a:t>\git\PyTorchStepByStep</a:t>
            </a:r>
          </a:p>
          <a:p>
            <a:pPr>
              <a:defRPr sz="2400" cap="none"/>
            </a:pPr>
            <a:r>
              <a:t>Deep Learning with PyTorch:</a:t>
            </a:r>
          </a:p>
          <a:p>
            <a:pPr lvl="1">
              <a:defRPr sz="2000" cap="none"/>
            </a:pPr>
            <a:r>
              <a:t>Stevens / Antiga / Viehmann, 2020, PyTorch</a:t>
            </a:r>
          </a:p>
          <a:p>
            <a:pPr lvl="1">
              <a:defRPr sz="2000" cap="none"/>
            </a:pPr>
            <a:r>
              <a:t>\git\dlwpt-code</a:t>
            </a:r>
          </a:p>
          <a:p>
            <a:pPr lvl="1">
              <a:defRPr sz="2000" cap="none"/>
            </a:pPr>
            <a:r>
              <a:t>Have paperback.</a:t>
            </a:r>
          </a:p>
          <a:p>
            <a:pPr>
              <a:defRPr sz="2400" cap="none"/>
            </a:pPr>
            <a:r>
              <a:t>Deep Learning for Dummies 2019: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>
              <a:defRPr sz="2000" cap="none"/>
            </a:pPr>
            <a:r>
              <a:t>\git\dl4dummies</a:t>
            </a:r>
          </a:p>
          <a:p>
            <a:pPr>
              <a:defRPr sz="2400" cap="none"/>
            </a:pPr>
            <a:r>
              <a:t>Deep Learning with Python 2018: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/>
            <a:r>
              <a:rPr sz="2000" cap="none"/>
              <a:t>\git\deep-learning-with-python-notebooks</a:t>
            </a:r>
            <a:endParaRPr sz="2400" cap="none"/>
          </a:p>
          <a:p>
            <a:pPr/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AAAAAAmAAAACAAAAAEAAAAAAAAA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</p:spPr>
        <p:txBody>
          <a:bodyPr/>
          <a:lstStyle/>
          <a:p>
            <a:pPr/>
            <a:r>
              <a:t>Dynamic Computation Graph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pPr/>
            <a:r>
              <a:t>DAG (Directed Acyclic Graph) of operations</a:t>
            </a:r>
          </a:p>
          <a:p>
            <a:pPr lvl="1"/>
            <a:r>
              <a:t>Allows models to optimized at run-time:</a:t>
            </a:r>
          </a:p>
          <a:p>
            <a:pPr lvl="2"/>
            <a:r>
              <a:t>Can change shape/size and operations after each iteration if needed</a:t>
            </a:r>
          </a:p>
          <a:p>
            <a:pPr lvl="1"/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AAAAAAmAAAACAAAAAEAAAAAAAAA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</p:spPr>
        <p:txBody>
          <a:bodyPr/>
          <a:lstStyle/>
          <a:p>
            <a:pPr/>
            <a:r>
              <a:t>Inherit from nn.Module to create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wwJC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pPr/>
            <a:r>
              <a:t>class MyNet(nn.Module):</a:t>
            </a:r>
          </a:p>
          <a:p>
            <a:pPr lvl="1"/>
            <a:r>
              <a:t>def __init__(self):</a:t>
            </a:r>
          </a:p>
          <a:p>
            <a:pPr lvl="2"/>
            <a:r>
              <a:t># Init the neural network</a:t>
            </a:r>
          </a:p>
          <a:p>
            <a:pPr lvl="2"/>
            <a:r>
              <a:t>super.__init__()</a:t>
            </a:r>
          </a:p>
          <a:p>
            <a:pPr lvl="2"/>
            <a:r>
              <a:t># Flatten data, such as 28x28 image to linear array/tensor.</a:t>
            </a:r>
          </a:p>
          <a:p>
            <a:pPr lvl="2"/>
            <a:r>
              <a:t>self.flatten = nn.Flatten()</a:t>
            </a:r>
          </a:p>
          <a:p>
            <a:pPr lvl="2"/>
            <a:r>
              <a:t># Add layers as needed:</a:t>
            </a:r>
          </a:p>
          <a:p>
            <a:pPr lvl="2"/>
            <a:r>
              <a:t>self.linear_relu_stack = nn.Sequential(</a:t>
            </a:r>
          </a:p>
          <a:p>
            <a:pPr lvl="3"/>
            <a:r>
              <a:t>nn.Linear(28*28, 512),</a:t>
            </a:r>
          </a:p>
          <a:p>
            <a:pPr lvl="3"/>
            <a:r>
              <a:t>nn.ReLU(), # Linear activation function outputs node or zero if not important.</a:t>
            </a:r>
          </a:p>
          <a:p>
            <a:pPr lvl="3"/>
            <a:r>
              <a:t>nn.Linear(512,512),</a:t>
            </a:r>
          </a:p>
          <a:p>
            <a:pPr lvl="3"/>
            <a:r>
              <a:t>nn.Linear(512,10)) # Output the 10 labels the model is trying to predict.</a:t>
            </a:r>
          </a:p>
          <a:p>
            <a:pPr lvl="2"/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bluuu</cp:lastModifiedBy>
  <cp:revision>0</cp:revision>
  <dcterms:created xsi:type="dcterms:W3CDTF">2025-11-26T22:42:01Z</dcterms:created>
  <dcterms:modified xsi:type="dcterms:W3CDTF">2025-12-17T01:09:23Z</dcterms:modified>
</cp:coreProperties>
</file>