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6" r:id="rId6"/>
    <p:sldId id="259" r:id="rId7"/>
    <p:sldId id="261" r:id="rId8"/>
    <p:sldId id="260" r:id="rId9"/>
    <p:sldId id="258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66454287" val="1228" revOS="4"/>
      <pr:smFileRevision xmlns:pr="smNativeData" xmlns="smNativeData" dt="1766454287" val="101"/>
      <pr:guideOptions xmlns:pr="smNativeData" xmlns="smNativeData" dt="1766454287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70" d="100"/>
          <a:sy n="70" d="100"/>
        </p:scale>
        <p:origin x="384" y="555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xYQ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y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C20A-44E1-6834-AF85-B2618CCB59E7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90F8-B6E1-6866-AF85-4033DECB5915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Dcr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C109-47E1-6837-AF85-B1628FCB59E4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885F-11E1-687E-AF85-E72BC6CB59B2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Q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ao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Q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FD44-0AE1-680B-AF85-FC5EB3CB59A9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AoW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CEB2-FCE1-6838-AF85-0A6D80CB595F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g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h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C82A-64E1-683E-AF85-926B86CB59C7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BDAF-E1E1-684B-AF85-171EF3CB5942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Q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Q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EA5F-11E1-681C-AF85-E749A4CB59B2}" type="datetime1">
              <a:t>12/16/2025</a:t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ur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D302-4CE1-6825-AF85-BA709DCB59EF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B687-C9E1-6840-AF85-3F15F8CB596A}" type="datetime1">
              <a:t>12/16/2025</a:t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8280-CEE1-6874-AF85-3821CCCB596D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98E0-AEE1-686E-AF85-583BD6CB590D}" type="datetime1">
              <a:t>12/16/2025</a:t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F72D-63E1-6801-AF85-9554B9CB59C0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kAZ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Q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A999-D7E1-685F-AF85-210AE7CB5974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C821-6FE1-683E-AF85-996B86CB59CC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Q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B2B6-F8E1-6844-AF85-0E11FCCB595B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8C28-66E1-687A-AF85-902FC2CB59C5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Q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C289-C7E1-6834-AF85-31618CCB5964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A7E8-A6E1-6851-AF85-5004E9CB5905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Q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lIns="91440" tIns="45720" rIns="91440" bIns="45720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Q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ED3E-70E1-681B-AF85-864EA3CB59D3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93DB-95E1-6865-AF85-6330DDCB5936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IMfAAD//8EB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IMfAAD//8EB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IOfAAD//8EB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0C3DC480-CEE1-6832-AF85-38678ACB596D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IOfAAD//8EB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FBQU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IOfAAD//8EB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0C3DE2FF-B1E1-6814-AF85-4741ACCB5912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webp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ultralytics/yolov5" TargetMode="External"/><Relationship Id="rId3" Type="http://schemas.openxmlformats.org/officeDocument/2006/relationships/hyperlink" Target="https://github.com/ultralytics/ultralytics" TargetMode="Externa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/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  <a:endParaRPr sz="2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pPr/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  <a:endParaRPr sz="2000" cap="none"/>
          </a:p>
          <a:p>
            <a:pPr/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Gaming Win11 Ryzen9 7900X(12c) 32gb RTX5070 12gb</a:t>
            </a:r>
          </a:p>
          <a:p>
            <a:pPr/>
            <a:r>
              <a:t>Mac Mini 16GB: PyTorch is possible but slow</a:t>
            </a:r>
          </a:p>
          <a:p>
            <a:pPr lvl="1"/>
          </a:p>
          <a:p>
            <a:pPr lvl="1"/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pPr/>
            <a:endParaRPr sz="2400" cap="none"/>
          </a:p>
          <a:p>
            <a:pPr/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cap="none"/>
              <a:t>TorchVision</a:t>
            </a:r>
            <a:endParaRPr lang="en-us" cap="none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c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1398270"/>
          </a:xfrm>
        </p:spPr>
        <p:txBody>
          <a:bodyPr/>
          <a:lstStyle/>
          <a:p>
            <a:pPr/>
            <a:r>
              <a:rPr lang="en-us" cap="none"/>
              <a:t>Transforms / datasets / models for computer vision</a:t>
            </a:r>
            <a:endParaRPr lang="en-us" cap="none"/>
          </a:p>
          <a:p>
            <a:pPr/>
            <a:r>
              <a:rPr lang="en-us" cap="none"/>
              <a:t>Models such as:</a:t>
            </a:r>
            <a:endParaRPr lang="en-us" cap="none"/>
          </a:p>
          <a:p>
            <a:pPr lvl="1"/>
            <a:r>
              <a:rPr lang="en-us" cap="none"/>
              <a:t>resnet18: convolutional NN that is 18 layers deep</a:t>
            </a:r>
            <a:endParaRPr lang="en-us" cap="none"/>
          </a:p>
          <a:p>
            <a:pPr lvl="1"/>
            <a:r>
              <a:rPr lang="en-us" cap="none"/>
              <a:t>resnet50, resnet101, etc.</a:t>
            </a:r>
            <a:endParaRPr lang="en-us" cap="none"/>
          </a:p>
          <a:p>
            <a:pPr lvl="1"/>
            <a:r>
              <a:rPr lang="en-us" cap="none"/>
              <a:t>EfficientNet?</a:t>
            </a:r>
            <a:endParaRPr lang="en-us" cap="none"/>
          </a:p>
          <a:p>
            <a:pPr lvl="1"/>
            <a:r>
              <a:rPr lang="en-us" cap="none"/>
              <a:t>Swin Transformers?</a:t>
            </a:r>
            <a:endParaRPr lang="en-us" cap="none"/>
          </a:p>
          <a:p>
            <a:pPr lvl="1"/>
            <a:endParaRPr lang="en-us" cap="none"/>
          </a:p>
          <a:p>
            <a:pPr marL="0" indent="0">
              <a:buNone/>
            </a:pPr>
            <a:endParaRPr lang="en-us" cap="none"/>
          </a:p>
          <a:p>
            <a:pPr marL="0" indent="0">
              <a:buNone/>
            </a:pPr>
            <a:endParaRPr lang="en-us" cap="none"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C00B-45E1-6836-AF85-B3638ECB59E6}" type="datetime1">
              <a:rPr lang="en-us" cap="none"/>
              <a:t>12/22/2025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cgBU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9597-D9E1-6863-AF85-2F36DBCB597A}" type="slidenum">
              <a:rPr lang="en-us" cap="none"/>
              <a:t>8</a:t>
            </a:fld>
            <a:endParaRPr lang="en-us" cap="none"/>
          </a:p>
        </p:txBody>
      </p:sp>
      <p:sp>
        <p:nvSpPr>
          <p:cNvPr id="6" name="TextBox 5"/>
          <p:cNvSpPr>
            <a:extLst>
              <a:ext uri="smNativeData">
                <pr:smNativeData xmlns:pr="smNativeData" xmlns="smNativeData" val="SMDATA_15_D/RJaRMAAAAlAAAAZAAAAE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B/f38AgICAA8zMzADAwP8Af39/AAAAAAAAAAAAAAAAAAAAAAAAAAAAIQAAABgAAAAUAAAA1gQAAEYbAABwJAAAESYAABAgAAAmAAAACAAAAP//////////"/>
              </a:ext>
            </a:extLst>
          </p:cNvSpPr>
          <p:nvPr/>
        </p:nvSpPr>
        <p:spPr>
          <a:xfrm>
            <a:off x="786130" y="4433570"/>
            <a:ext cx="5137150" cy="17545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pPr/>
            <a:r>
              <a:rPr lang="en-us" cap="none"/>
              <a:t>transform = transforms.Compose([</a:t>
            </a:r>
            <a:endParaRPr lang="en-us" cap="none"/>
          </a:p>
          <a:p>
            <a:pPr/>
            <a:r>
              <a:rPr lang="en-us" cap="none"/>
              <a:t>    transforms.Resize((img_size, img_size)),</a:t>
            </a:r>
            <a:endParaRPr lang="en-us" cap="none"/>
          </a:p>
          <a:p>
            <a:pPr/>
            <a:r>
              <a:rPr lang="en-us" cap="none"/>
              <a:t>    transforms.ToTensor(),</a:t>
            </a:r>
            <a:endParaRPr lang="en-us" cap="none"/>
          </a:p>
          <a:p>
            <a:pPr/>
            <a:r>
              <a:rPr lang="en-us" cap="none"/>
              <a:t>    transforms.Normalize(mean=[0.485, 0.456, 0.406],</a:t>
            </a:r>
            <a:endParaRPr lang="en-us" cap="none"/>
          </a:p>
          <a:p>
            <a:pPr/>
            <a:r>
              <a:rPr lang="en-us" cap="none"/>
              <a:t>                         std=[0.229, 0.224, 0.225]),</a:t>
            </a:r>
            <a:endParaRPr lang="en-us" cap="none"/>
          </a:p>
          <a:p>
            <a:pPr/>
            <a:r>
              <a:rPr lang="en-us" cap="none"/>
              <a:t>])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cap="none"/>
              <a:t>TorchAudio</a:t>
            </a:r>
            <a:endParaRPr lang="en-us" cap="none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Speech Recognition</a:t>
            </a:r>
          </a:p>
          <a:p>
            <a:pPr/>
            <a:r>
              <a:t>Wave data-to-vector transforms</a:t>
            </a:r>
          </a:p>
          <a:p>
            <a:pPr/>
          </a:p>
          <a:p>
            <a:pPr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3DF938-76E1-680F-AF85-805AB7CB59D5}" type="datetime1">
              <a:rPr lang="en-us" cap="none"/>
              <a:t>12/22/2025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3DB253-1DE1-6844-AF85-EB11FCCB59BE}" type="slidenum">
              <a:rPr lang="en-us" cap="none"/>
              <a:t>9</a:t>
            </a:fld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CNN = Convolutional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800" cap="none"/>
            </a:pPr>
            <a:r>
              <a:t>Convolution combines two math functions to produce a third</a:t>
            </a:r>
          </a:p>
          <a:p>
            <a:pPr lvl="1">
              <a:defRPr sz="2400" cap="none"/>
            </a:pPr>
            <a:r>
              <a:t>Conv2D is used for 2D-image convolution</a:t>
            </a:r>
          </a:p>
          <a:p>
            <a:pPr>
              <a:defRPr sz="2800" cap="none"/>
            </a:pPr>
            <a:r>
              <a:t>In image recognition, images are filtered for various features</a:t>
            </a:r>
          </a:p>
          <a:p>
            <a:pPr lvl="1">
              <a:defRPr sz="2400" cap="none"/>
            </a:pPr>
            <a:r>
              <a:t>Kernels = learnable filters that are adjusted during training</a:t>
            </a:r>
          </a:p>
          <a:p>
            <a:pPr lvl="1">
              <a:defRPr sz="2400" cap="none"/>
            </a:pPr>
            <a:r>
              <a:t>Detect on the filtered image (ReLU)</a:t>
            </a:r>
          </a:p>
          <a:p>
            <a:pPr>
              <a:defRPr sz="2800" cap="none"/>
            </a:pPr>
            <a:r>
              <a:t>The filters/kernels are slid over the input image to create a product at each position, followed by summation to produce an output feature map</a:t>
            </a:r>
          </a:p>
          <a:p>
            <a:pPr>
              <a:defRPr sz="2800" cap="none"/>
            </a:pPr>
            <a:r>
              <a:t>bias = offsets or shift adjustment</a:t>
            </a:r>
          </a:p>
          <a:p>
            <a:pPr>
              <a:defRPr sz="2800" cap="none"/>
            </a:pPr>
            <a:r>
              <a:t>CNN usually uses multiple filters simultaneously</a:t>
            </a:r>
          </a:p>
          <a:p>
            <a:pPr lvl="1">
              <a:defRPr sz="2400" cap="none"/>
            </a:pPr>
            <a:r>
              <a:t>Many features in each layer</a:t>
            </a:r>
          </a:p>
          <a:p>
            <a:pPr lvl="1"/>
            <a:r>
              <a:rPr sz="2400" cap="none"/>
              <a:t>Many layers allow complex heirarchical combos of features</a:t>
            </a:r>
            <a:endParaRPr sz="2400" cap="none"/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ReLU function</a:t>
            </a:r>
          </a:p>
          <a:p>
            <a:pPr/>
            <a:r>
              <a:t>Rectified Linear Unit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ARRwAAi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42955" cy="1413510"/>
          </a:xfrm>
        </p:spPr>
        <p:txBody>
          <a:bodyPr/>
          <a:lstStyle/>
          <a:p>
            <a:pPr/>
            <a:r>
              <a:t>Introduces non-linear element to learn complex non-linear relationships</a:t>
            </a:r>
          </a:p>
          <a:p>
            <a:pPr/>
            <a:r>
              <a:t>Simple function: ReLU(x) = max(0, x)</a:t>
            </a:r>
          </a:p>
          <a:p>
            <a:pPr/>
            <a:r>
              <a:t>ReLU variants:</a:t>
            </a:r>
          </a:p>
          <a:p>
            <a:pPr lvl="1"/>
            <a:r>
              <a:t>Leaky ReLU() = max(alpha*x, x). Small slope for negative part.</a:t>
            </a:r>
          </a:p>
          <a:p>
            <a:pPr lvl="1"/>
            <a:r>
              <a:t>Parametric ReLU - has slope that is learned during training</a:t>
            </a:r>
          </a:p>
          <a:p>
            <a:pPr lvl="1"/>
            <a:r>
              <a:t>Exponential Linear ELU - for very small inputs</a:t>
            </a:r>
          </a:p>
          <a:p>
            <a:pPr/>
          </a:p>
        </p:txBody>
      </p:sp>
      <p:pic>
        <p:nvPicPr>
          <p:cNvPr id="4" name="Picture1"/>
          <p:cNvPicPr>
            <a:picLocks noChangeAspect="1"/>
            <a:extLst>
              <a:ext uri="smNativeData">
                <pr:smNativeData xmlns:pr="smNativeData" xmlns="smNativeData" val="SMDATA_17_D/RJ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XMc/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CITAAC4FgAAyi4AANgm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3110230" y="3693160"/>
            <a:ext cx="4495800" cy="262128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Fully connected layers at end</a:t>
            </a:r>
          </a:p>
          <a:p>
            <a:pPr/>
            <a:r>
              <a:t>for classification or regression tasks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Can be multiple fully connected layers</a:t>
            </a:r>
          </a:p>
          <a:p>
            <a:pPr/>
            <a:r>
              <a:t>Combines the previous convolutional layers to bring everything together to give final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Object Detection models</a:t>
            </a:r>
          </a:p>
          <a:p>
            <a:pPr/>
            <a:r>
              <a:t>recognize multiple objects in same image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YOLO - You Only Look Once - single stage/pass</a:t>
            </a:r>
          </a:p>
          <a:p>
            <a:pPr lvl="1"/>
            <a:r>
              <a:t>Latest versions are v5 / v8 / v11</a:t>
            </a:r>
          </a:p>
          <a:p>
            <a:pPr lvl="2"/>
            <a:r>
              <a:t>v5: </a:t>
            </a:r>
            <a:r>
              <a:rPr cap="none">
                <a:hlinkClick r:id="rId2"/>
              </a:rPr>
              <a:t>https://github.com/ultralytics/yolov5</a:t>
            </a:r>
          </a:p>
          <a:p>
            <a:pPr lvl="2"/>
            <a:r>
              <a:t>v8: ?same as v11?</a:t>
            </a:r>
          </a:p>
          <a:p>
            <a:pPr lvl="2"/>
            <a:r>
              <a:t>v11: </a:t>
            </a:r>
            <a:r>
              <a:rPr cap="none">
                <a:hlinkClick r:id="rId3"/>
              </a:rPr>
              <a:t>https://github.com/ultralytics/ultralytics</a:t>
            </a:r>
          </a:p>
          <a:p>
            <a:pPr lvl="2"/>
          </a:p>
          <a:p>
            <a:pPr/>
            <a:r>
              <a:t>Faster R-CNN - multiple stage</a:t>
            </a:r>
          </a:p>
          <a:p>
            <a:pPr lvl="2"/>
            <a:r>
              <a:t>RPN (Region Proposal Network) first, then classifies from there.</a:t>
            </a:r>
          </a:p>
          <a:p>
            <a:pPr lvl="2"/>
            <a:r>
              <a:t>Slower but more accurate especially for complex scenes &amp; small overlapping</a:t>
            </a:r>
          </a:p>
          <a:p>
            <a:pPr/>
            <a:r>
              <a:t>DETR - Detection Transformer</a:t>
            </a:r>
          </a:p>
          <a:p>
            <a:pPr lvl="2"/>
            <a:r>
              <a:t>Requires a lot of training data</a:t>
            </a:r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Image Recognition Models that only </a:t>
            </a:r>
          </a:p>
          <a:p>
            <a:pPr/>
            <a:r>
              <a:t>recognize the entire image at once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D/RJ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ResNet</a:t>
            </a:r>
          </a:p>
          <a:p>
            <a:pPr/>
            <a:r>
              <a:t>MobileNet - Made for Mobile devices</a:t>
            </a:r>
          </a:p>
          <a:p>
            <a:pPr/>
            <a:r>
              <a:t>EfficientNet v2 - has variants for different needs</a:t>
            </a:r>
          </a:p>
          <a:p>
            <a:pPr/>
            <a:r>
              <a:t>Slower but could be optimized:</a:t>
            </a:r>
          </a:p>
          <a:p>
            <a:pPr lvl="1"/>
            <a:r>
              <a:t>Swin Transformer</a:t>
            </a:r>
          </a:p>
          <a:p>
            <a:pPr lvl="1"/>
            <a:r>
              <a:t>ConvNeXt - modern CNN better than transformers</a:t>
            </a:r>
          </a:p>
          <a:p>
            <a:pPr lvl="1"/>
            <a:r>
              <a:t>CoCa / PaLI / CoAtNet - state-of-the-art / best accuracy</a:t>
            </a:r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0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PyTorch</dc:title>
  <dc:subject/>
  <dc:creator/>
  <cp:keywords/>
  <dc:description/>
  <cp:lastModifiedBy>bluuu</cp:lastModifiedBy>
  <cp:revision>0</cp:revision>
  <dcterms:created xsi:type="dcterms:W3CDTF">2025-11-27T05:42:01Z</dcterms:created>
  <dcterms:modified xsi:type="dcterms:W3CDTF">2025-12-23T01:44:47Z</dcterms:modified>
</cp:coreProperties>
</file>