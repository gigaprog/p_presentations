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6" r:id="rId6"/>
    <p:sldId id="259" r:id="rId7"/>
    <p:sldId id="261" r:id="rId8"/>
    <p:sldId id="260" r:id="rId9"/>
    <p:sldId id="258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66442650" val="1228" revOS="4"/>
      <pr:smFileRevision xmlns:pr="smNativeData" xmlns="smNativeData" dt="1766442650" val="101"/>
      <pr:guideOptions xmlns:pr="smNativeData" xmlns="smNativeData" dt="1766442650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Objects="1" showGuides="1">
      <p:cViewPr varScale="1">
        <p:scale>
          <a:sx n="70" d="100"/>
          <a:sy n="70" d="100"/>
        </p:scale>
        <p:origin x="384" y="555"/>
      </p:cViewPr>
      <p:guideLst x="0" y="0"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5" d="100"/>
        <a:sy n="15" d="100"/>
      </p:scale>
      <p:origin x="0" y="0"/>
    </p:cViewPr>
  </p:sorterViewPr>
  <p:notesViewPr>
    <p:cSldViewPr snapToObjects="1" showGuides="1">
      <p:cViewPr>
        <p:scale>
          <a:sx n="70" d="100"/>
          <a:sy n="70" d="100"/>
        </p:scale>
        <p:origin x="384" y="555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xYQ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y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7540-0EE0-9A83-AE77-F8D63B3958AD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08F7-B9E0-9AFE-AE77-4FAB4639581A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Dcrw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1DB5-FBE0-9AEB-AE77-0DBE53395858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7BBF-F1E0-9A8D-AE77-07D835395852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Q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aoy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Q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5CBB-F5E0-9AAA-AE77-03FF12395856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AoW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78AB-E5E0-9A8E-AE77-13DB36395846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g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h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66FA-B4E0-9A90-AE77-42C528395817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66F7-B9E0-9A90-AE77-4FC52839581A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Q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Q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022A-64E0-9AF4-AE77-92A14C3958C7}" type="datetime1">
              <a:t>12/16/2025</a:t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Dur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2D8A-C4E0-9ADB-AE77-328E63395867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LC8B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05C3-8DE0-9AF3-AE77-7BA64B39582E}" type="datetime1">
              <a:t>12/16/2025</a:t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76CB-85E0-9A80-AE77-73D538395826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6CBB-F5E0-9A9A-AE77-03CF22395856}" type="datetime1">
              <a:t>12/16/2025</a:t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6EBF-F1E0-9A98-AE77-07CD20395852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kAZ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Q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63AA-E4E0-9A95-AE77-12C02D395847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22EA-A4E0-9AD4-AE77-52816C395807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Q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1AE1-AFE0-9AEC-AE77-59B95439580C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1F09-47E0-9AE9-AE77-B1BC513958E4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QAAAAAAAA"/>
              </a:ext>
            </a:extLst>
          </p:cNvSpPr>
          <p:nvPr>
            <p:ph idx="1"/>
          </p:nvPr>
        </p:nvSpPr>
        <p:spPr/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472B-65E0-9AB1-AE77-93E4093958C6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184D-03E0-9AEE-AE77-F5BB563958A0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Q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lIns="91440" tIns="45720" rIns="91440" bIns="45720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Q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4452-1CE0-9AB2-AE77-EAE70A3958BF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0E15-5BE0-9AF8-AE77-ADAD403958F8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IMfAAD//8EB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IMfAAD//8EB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IOfAAD//8EB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  <a:fld id="{0DCF2C15-5BE0-9ADA-AE77-AD8F623958F8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IOfAAD//8EB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FBQU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IOfAAD//8EB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0DCF48B3-FDE0-9ABE-AE77-0BEB0639585E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webp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pPr/>
            <a:r>
              <a:t>AI PyTorch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Why PyTorch vs Tensorflow/Jax?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600" cap="none"/>
            </a:pPr>
            <a:r>
              <a:t>PyTorch used much more in Research / Academia</a:t>
            </a:r>
          </a:p>
          <a:p>
            <a:pPr>
              <a:defRPr sz="2600" cap="none"/>
            </a:pPr>
            <a:r>
              <a:t>PyTorch has dynamic computation graphs</a:t>
            </a:r>
          </a:p>
          <a:p>
            <a:pPr>
              <a:defRPr sz="2600" cap="none"/>
            </a:pPr>
            <a:r>
              <a:t>PyTorch easier to tweak things once you get past the basics</a:t>
            </a:r>
          </a:p>
          <a:p>
            <a:pPr>
              <a:defRPr sz="2600" cap="none"/>
            </a:pPr>
            <a:r>
              <a:t>PyTorch easier to debug</a:t>
            </a:r>
          </a:p>
          <a:p>
            <a:pPr>
              <a:defRPr sz="2600" cap="none"/>
            </a:pPr>
            <a:r>
              <a:t>Why Tensorflow / Jax?</a:t>
            </a:r>
          </a:p>
          <a:p>
            <a:pPr lvl="1">
              <a:defRPr sz="2200" cap="none"/>
            </a:pPr>
            <a:r>
              <a:t>Easier to get started (but harder to tweek afterward)</a:t>
            </a:r>
          </a:p>
          <a:p>
            <a:pPr lvl="1">
              <a:defRPr sz="2200" cap="none"/>
            </a:pPr>
            <a:r>
              <a:t>Jax (also Google) might be taking over from Tensorflow - but not for beginners</a:t>
            </a:r>
          </a:p>
          <a:p>
            <a:pPr lvl="2">
              <a:defRPr sz="1800" cap="none"/>
            </a:pPr>
            <a:r>
              <a:t>Numpy-like syntax </a:t>
            </a:r>
          </a:p>
          <a:p>
            <a:pPr lvl="1">
              <a:defRPr sz="2200" cap="none"/>
            </a:pPr>
            <a:r>
              <a:t>Jax is faster - sometimes 4-5x</a:t>
            </a:r>
          </a:p>
          <a:p>
            <a:pPr lvl="2">
              <a:defRPr sz="1800" cap="none"/>
            </a:pPr>
            <a:r>
              <a:t>Just in time compilation</a:t>
            </a:r>
          </a:p>
          <a:p>
            <a:pPr lvl="2">
              <a:defRPr sz="1800" cap="none"/>
            </a:pPr>
            <a:r>
              <a:t>Accelerated Linear Algebra</a:t>
            </a:r>
          </a:p>
          <a:p>
            <a:pPr lvl="1"/>
            <a:r>
              <a:rPr sz="2200" cap="none"/>
              <a:t>‘J’ is just-in-time compilation, ‘A’ is Automatic Differentiation/Derivative, ‘X’ - Xcelerated Linear Algebra</a:t>
            </a:r>
            <a:endParaRPr sz="2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Conda install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Prefer using ‘conda install’ over ’pip install’, like:</a:t>
            </a:r>
          </a:p>
          <a:p>
            <a:pPr lvl="1"/>
            <a:r>
              <a:t>conda install pytorch torchvision torchaudio cudatoolkit=10.2 -c</a:t>
            </a:r>
          </a:p>
          <a:p>
            <a:pPr lvl="1"/>
            <a:r>
              <a:t>conda install -c conda-forge tensorboard</a:t>
            </a:r>
          </a:p>
          <a:p>
            <a:pPr lvl="2"/>
            <a:r>
              <a:t>*tensorboard was made for tensorflow BUT can be used w/PyTorch</a:t>
            </a:r>
          </a:p>
          <a:p>
            <a:pPr lvl="1"/>
            <a:r>
              <a:t>pip install torchviz</a:t>
            </a:r>
          </a:p>
          <a:p>
            <a:pPr lvl="2"/>
            <a:r>
              <a:t>*sometimes conda install option not available.</a:t>
            </a:r>
          </a:p>
          <a:p>
            <a:pPr lvl="2"/>
            <a:r>
              <a:t>*Torchviz requires GraphViz to be installed first.</a:t>
            </a:r>
          </a:p>
          <a:p>
            <a:pPr/>
            <a:r>
              <a:t>Often need to create environment (like PyTorchStepByStep):</a:t>
            </a:r>
          </a:p>
          <a:p>
            <a:pPr lvl="1"/>
            <a:r>
              <a:t>conda env create -f environment.yaml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Computer PyTorch installs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main Win10 Ryzen5 7600X3D 4100Mhz 64gb RTX3060 12gb:</a:t>
            </a:r>
          </a:p>
          <a:p>
            <a:pPr lvl="1"/>
            <a:r>
              <a:t>Has Python 3.9 PyTorch that works in Visual Studio</a:t>
            </a:r>
          </a:p>
          <a:p>
            <a:pPr/>
            <a:r>
              <a:t>Ubuntu Ryzen 5 5500 2400Mhz 32gb RTX4060Ti 16gb:</a:t>
            </a:r>
          </a:p>
          <a:p>
            <a:pPr lvl="1">
              <a:defRPr sz="2000" cap="none"/>
            </a:pPr>
            <a:r>
              <a:t>Visual Studio Code will run the conda environments including:</a:t>
            </a:r>
          </a:p>
          <a:p>
            <a:pPr lvl="2">
              <a:defRPr sz="1600" cap="none"/>
            </a:pPr>
            <a:r>
              <a:t>ldm</a:t>
            </a:r>
          </a:p>
          <a:p>
            <a:pPr lvl="2">
              <a:defRPr sz="1600" cap="none"/>
            </a:pPr>
            <a:r>
              <a:t>pytorchbook</a:t>
            </a:r>
          </a:p>
          <a:p>
            <a:pPr lvl="1">
              <a:defRPr sz="2000" cap="none"/>
            </a:pPr>
            <a:r>
              <a:t>*But how to debug on Linux?!?</a:t>
            </a:r>
          </a:p>
          <a:p>
            <a:pPr lvl="1">
              <a:defRPr sz="2000" cap="none"/>
            </a:pPr>
            <a:r>
              <a:t>The pytorch jupyter notebooks seem to work well with it.</a:t>
            </a:r>
          </a:p>
          <a:p>
            <a:pPr lvl="1"/>
            <a:r>
              <a:rPr sz="2000" cap="none"/>
              <a:t>Probably better to ‘conda pytorchnotebook’ and then ‘code’ to get into Visual Studio Code</a:t>
            </a:r>
            <a:endParaRPr sz="2000" cap="none"/>
          </a:p>
          <a:p>
            <a:pPr/>
            <a:r>
              <a:t>Laptop Win11 i5-134020H 2100Mhz 16gb RTX4050 6gb:</a:t>
            </a:r>
          </a:p>
          <a:p>
            <a:pPr lvl="1"/>
            <a:r>
              <a:t>Has Python 3.9 PyTorch that works in Visual Studio</a:t>
            </a:r>
          </a:p>
          <a:p>
            <a:pPr/>
            <a:r>
              <a:t>Gaming Win11 Ryzen9 7900X(12c) 32gb RTX5070 12gb</a:t>
            </a:r>
          </a:p>
          <a:p>
            <a:pPr/>
            <a:r>
              <a:t>Mac Mini 16GB: PyTorch is possible but slow</a:t>
            </a:r>
          </a:p>
          <a:p>
            <a:pPr lvl="1"/>
          </a:p>
          <a:p>
            <a:pPr lvl="1"/>
          </a:p>
          <a:p>
            <a:pPr lvl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Books and what they cover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400" cap="none"/>
            </a:pPr>
            <a:r>
              <a:t>Deep Learning with PyTorch step-by-step :</a:t>
            </a:r>
          </a:p>
          <a:p>
            <a:pPr lvl="1">
              <a:defRPr sz="2000" cap="none"/>
            </a:pPr>
            <a:r>
              <a:t>Daniel Voigt Godoy, 2024 v1.2, PyTorch</a:t>
            </a:r>
          </a:p>
          <a:p>
            <a:pPr lvl="1">
              <a:defRPr sz="2000" cap="none"/>
            </a:pPr>
            <a:r>
              <a:t>Have paperback &amp; Kindle version. There is Volume II and III, though, I don’t have.</a:t>
            </a:r>
          </a:p>
          <a:p>
            <a:pPr lvl="1">
              <a:defRPr sz="2000" cap="none"/>
            </a:pPr>
            <a:r>
              <a:t>\git\PyTorchStepByStep</a:t>
            </a:r>
          </a:p>
          <a:p>
            <a:pPr>
              <a:defRPr sz="2400" cap="none"/>
            </a:pPr>
            <a:r>
              <a:t>Deep Learning with PyTorch:</a:t>
            </a:r>
          </a:p>
          <a:p>
            <a:pPr lvl="1">
              <a:defRPr sz="2000" cap="none"/>
            </a:pPr>
            <a:r>
              <a:t>Stevens / Antiga / Viehmann, 2020, PyTorch</a:t>
            </a:r>
          </a:p>
          <a:p>
            <a:pPr lvl="1">
              <a:defRPr sz="2000" cap="none"/>
            </a:pPr>
            <a:r>
              <a:t>\git\dlwpt-code</a:t>
            </a:r>
          </a:p>
          <a:p>
            <a:pPr lvl="1">
              <a:defRPr sz="2000" cap="none"/>
            </a:pPr>
            <a:r>
              <a:t>Have paperback.</a:t>
            </a:r>
          </a:p>
          <a:p>
            <a:pPr>
              <a:defRPr sz="2400" cap="none"/>
            </a:pPr>
            <a:r>
              <a:t>Deep Learning for Dummies 2019: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>
              <a:defRPr sz="2000" cap="none"/>
            </a:pPr>
            <a:r>
              <a:t>\git\dl4dummies</a:t>
            </a:r>
          </a:p>
          <a:p>
            <a:pPr>
              <a:defRPr sz="2400" cap="none"/>
            </a:pPr>
            <a:r>
              <a:t>Deep Learning with Python 2018: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/>
            <a:r>
              <a:rPr sz="2000" cap="none"/>
              <a:t>\git\deep-learning-with-python-notebooks</a:t>
            </a:r>
            <a:endParaRPr sz="2400" cap="none"/>
          </a:p>
          <a:p>
            <a:pPr/>
            <a:endParaRPr sz="2400" cap="none"/>
          </a:p>
          <a:p>
            <a:pPr/>
            <a:endParaRPr sz="2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Dynamic Computation Graph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DAG (Directed Acyclic Graph) of operations</a:t>
            </a:r>
          </a:p>
          <a:p>
            <a:pPr lvl="1"/>
            <a:r>
              <a:t>Allows models to optimized at run-time:</a:t>
            </a:r>
          </a:p>
          <a:p>
            <a:pPr lvl="2"/>
            <a:r>
              <a:t>Can change shape/size and operations after each iteration if needed</a:t>
            </a:r>
          </a:p>
          <a:p>
            <a:pPr lvl="1"/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Inherit from nn.Module to create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class MyNet(nn.Module):</a:t>
            </a:r>
          </a:p>
          <a:p>
            <a:pPr lvl="1"/>
            <a:r>
              <a:t>def __init__(self):</a:t>
            </a:r>
          </a:p>
          <a:p>
            <a:pPr lvl="2"/>
            <a:r>
              <a:t># Init the neural network</a:t>
            </a:r>
          </a:p>
          <a:p>
            <a:pPr lvl="2"/>
            <a:r>
              <a:t>super.__init__()</a:t>
            </a:r>
          </a:p>
          <a:p>
            <a:pPr lvl="2"/>
            <a:r>
              <a:t># Flatten data, such as 28x28 image to linear array/tensor.</a:t>
            </a:r>
          </a:p>
          <a:p>
            <a:pPr lvl="2"/>
            <a:r>
              <a:t>self.flatten = nn.Flatten()</a:t>
            </a:r>
          </a:p>
          <a:p>
            <a:pPr lvl="2"/>
            <a:r>
              <a:t># Add layers as needed:</a:t>
            </a:r>
          </a:p>
          <a:p>
            <a:pPr lvl="2"/>
            <a:r>
              <a:t>self.linear_relu_stack = nn.Sequential(</a:t>
            </a:r>
          </a:p>
          <a:p>
            <a:pPr lvl="3"/>
            <a:r>
              <a:t>nn.Linear(28*28, 512),</a:t>
            </a:r>
          </a:p>
          <a:p>
            <a:pPr lvl="3"/>
            <a:r>
              <a:t>nn.ReLU(), # Linear activation function outputs node or zero if not important.</a:t>
            </a:r>
          </a:p>
          <a:p>
            <a:pPr lvl="3"/>
            <a:r>
              <a:t>nn.Linear(512,512),</a:t>
            </a:r>
          </a:p>
          <a:p>
            <a:pPr lvl="3"/>
            <a:r>
              <a:t>nn.Linear(512,10)) # Output the 10 labels the model is trying to predict.</a:t>
            </a:r>
          </a:p>
          <a:p>
            <a:pPr lvl="2"/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cap="none"/>
              <a:t>TorchVision</a:t>
            </a:r>
            <a:endParaRPr lang="en-us" cap="none"/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c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1398270"/>
          </a:xfrm>
        </p:spPr>
        <p:txBody>
          <a:bodyPr/>
          <a:lstStyle/>
          <a:p>
            <a:pPr/>
            <a:r>
              <a:rPr lang="en-us" cap="none"/>
              <a:t>Transforms / datasets / models for computer vision</a:t>
            </a:r>
            <a:endParaRPr lang="en-us" cap="none"/>
          </a:p>
          <a:p>
            <a:pPr/>
            <a:r>
              <a:rPr lang="en-us" cap="none"/>
              <a:t>Models such as:</a:t>
            </a:r>
            <a:endParaRPr lang="en-us" cap="none"/>
          </a:p>
          <a:p>
            <a:pPr lvl="1"/>
            <a:r>
              <a:rPr lang="en-us" cap="none"/>
              <a:t>resnet18: convolutional NN that is 18 layers deep</a:t>
            </a:r>
            <a:endParaRPr lang="en-us" cap="none"/>
          </a:p>
          <a:p>
            <a:pPr lvl="1"/>
            <a:r>
              <a:rPr lang="en-us" cap="none"/>
              <a:t>resnet50, resnet101, etc.</a:t>
            </a:r>
            <a:endParaRPr lang="en-us" cap="none"/>
          </a:p>
          <a:p>
            <a:pPr lvl="1"/>
            <a:r>
              <a:rPr lang="en-us" cap="none"/>
              <a:t>EfficientNet?</a:t>
            </a:r>
            <a:endParaRPr lang="en-us" cap="none"/>
          </a:p>
          <a:p>
            <a:pPr lvl="1"/>
            <a:r>
              <a:rPr lang="en-us" cap="none"/>
              <a:t>Swin Transformers?</a:t>
            </a:r>
            <a:endParaRPr lang="en-us" cap="none"/>
          </a:p>
          <a:p>
            <a:pPr lvl="1"/>
            <a:endParaRPr lang="en-us" cap="none"/>
          </a:p>
          <a:p>
            <a:pPr marL="0" indent="0">
              <a:buNone/>
            </a:pPr>
            <a:endParaRPr lang="en-us" cap="none"/>
          </a:p>
          <a:p>
            <a:pPr marL="0" indent="0">
              <a:buNone/>
            </a:pPr>
            <a:endParaRPr lang="en-us" cap="none"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02C5-8BE0-9AF4-AE77-7DA14C395828}" type="datetime1">
              <a:rPr lang="en-us" cap="none"/>
              <a:t>12/22/2025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cgBU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7C6B-25E0-9A8A-AE77-D3DF32395886}" type="slidenum">
              <a:rPr lang="en-us" cap="none"/>
              <a:t>8</a:t>
            </a:fld>
            <a:endParaRPr lang="en-us" cap="none"/>
          </a:p>
        </p:txBody>
      </p:sp>
      <p:sp>
        <p:nvSpPr>
          <p:cNvPr id="6" name="TextBox 5"/>
          <p:cNvSpPr>
            <a:extLst>
              <a:ext uri="smNativeData">
                <pr:smNativeData xmlns:pr="smNativeData" xmlns="smNativeData" val="SMDATA_15_msZJaRMAAAAlAAAAZAAAAE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B/f38AgICAA8zMzADAwP8Af39/AAAAAAAAAAAAAAAAAAAAAAAAAAAAIQAAABgAAAAUAAAA1gQAAEYbAABwJAAAESYAABAgAAAmAAAACAAAAP//////////"/>
              </a:ext>
            </a:extLst>
          </p:cNvSpPr>
          <p:nvPr/>
        </p:nvSpPr>
        <p:spPr>
          <a:xfrm>
            <a:off x="786130" y="4433570"/>
            <a:ext cx="5137150" cy="17545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spcCol="215900" anchor="t"/>
          <a:lstStyle/>
          <a:p>
            <a:pPr/>
            <a:r>
              <a:rPr lang="en-us" cap="none"/>
              <a:t>transform = transforms.Compose([</a:t>
            </a:r>
            <a:endParaRPr lang="en-us" cap="none"/>
          </a:p>
          <a:p>
            <a:pPr/>
            <a:r>
              <a:rPr lang="en-us" cap="none"/>
              <a:t>    transforms.Resize((img_size, img_size)),</a:t>
            </a:r>
            <a:endParaRPr lang="en-us" cap="none"/>
          </a:p>
          <a:p>
            <a:pPr/>
            <a:r>
              <a:rPr lang="en-us" cap="none"/>
              <a:t>    transforms.ToTensor(),</a:t>
            </a:r>
            <a:endParaRPr lang="en-us" cap="none"/>
          </a:p>
          <a:p>
            <a:pPr/>
            <a:r>
              <a:rPr lang="en-us" cap="none"/>
              <a:t>    transforms.Normalize(mean=[0.485, 0.456, 0.406],</a:t>
            </a:r>
            <a:endParaRPr lang="en-us" cap="none"/>
          </a:p>
          <a:p>
            <a:pPr/>
            <a:r>
              <a:rPr lang="en-us" cap="none"/>
              <a:t>                         std=[0.229, 0.224, 0.225]),</a:t>
            </a:r>
            <a:endParaRPr lang="en-us" cap="none"/>
          </a:p>
          <a:p>
            <a:pPr/>
            <a:r>
              <a:rPr lang="en-us" cap="none"/>
              <a:t>])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cap="none"/>
              <a:t>TorchAudio</a:t>
            </a:r>
            <a:endParaRPr lang="en-us" cap="none"/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Speech Recognition</a:t>
            </a:r>
          </a:p>
          <a:p>
            <a:pPr/>
            <a:r>
              <a:t>Wave data-to-vector transforms</a:t>
            </a:r>
          </a:p>
          <a:p>
            <a:pPr/>
          </a:p>
          <a:p>
            <a:pPr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CF6F62-2CE0-9A99-AE77-DACC2139588F}" type="datetime1">
              <a:rPr lang="en-us" cap="none"/>
              <a:t>12/22/2025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DCF520C-42E0-9AA4-AE77-B4F11C3958E1}" type="slidenum">
              <a:rPr lang="en-us" cap="none"/>
              <a:t>9</a:t>
            </a:fld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CNN = Convolutional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800" cap="none"/>
            </a:pPr>
            <a:r>
              <a:t>Convolution combines two math functions to produce a third</a:t>
            </a:r>
          </a:p>
          <a:p>
            <a:pPr lvl="1">
              <a:defRPr sz="2400" cap="none"/>
            </a:pPr>
            <a:r>
              <a:t>Conv2D is used for 2D-image convolution</a:t>
            </a:r>
          </a:p>
          <a:p>
            <a:pPr>
              <a:defRPr sz="2800" cap="none"/>
            </a:pPr>
            <a:r>
              <a:t>In image recognition, images are filtered for various features</a:t>
            </a:r>
          </a:p>
          <a:p>
            <a:pPr lvl="1">
              <a:defRPr sz="2400" cap="none"/>
            </a:pPr>
            <a:r>
              <a:t>Kernels = learnable filters that are adjusted during training</a:t>
            </a:r>
          </a:p>
          <a:p>
            <a:pPr lvl="1">
              <a:defRPr sz="2400" cap="none"/>
            </a:pPr>
            <a:r>
              <a:t>Detect on the filtered image (ReLU)</a:t>
            </a:r>
          </a:p>
          <a:p>
            <a:pPr>
              <a:defRPr sz="2800" cap="none"/>
            </a:pPr>
            <a:r>
              <a:t>The filters/kernels are slid over the input image to create a product at each position, followed by summation to produce an output feature map</a:t>
            </a:r>
          </a:p>
          <a:p>
            <a:pPr>
              <a:defRPr sz="2800" cap="none"/>
            </a:pPr>
            <a:r>
              <a:t>bias = offsets or shift adjustment</a:t>
            </a:r>
          </a:p>
          <a:p>
            <a:pPr>
              <a:defRPr sz="2800" cap="none"/>
            </a:pPr>
            <a:r>
              <a:t>CNN usually uses multiple filters simultaneously</a:t>
            </a:r>
          </a:p>
          <a:p>
            <a:pPr lvl="1">
              <a:defRPr sz="2400" cap="none"/>
            </a:pPr>
            <a:r>
              <a:t>Many features in each layer</a:t>
            </a:r>
          </a:p>
          <a:p>
            <a:pPr lvl="1"/>
            <a:r>
              <a:rPr sz="2400" cap="none"/>
              <a:t>Many layers allow complex heirarchical combos of features</a:t>
            </a:r>
            <a:endParaRPr sz="2400" cap="none"/>
          </a:p>
          <a:p>
            <a:pPr lvl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ReLU function</a:t>
            </a:r>
          </a:p>
          <a:p>
            <a:pPr/>
            <a:r>
              <a:t>Rectified Linear Unit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ARRwAAi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42955" cy="1413510"/>
          </a:xfrm>
        </p:spPr>
        <p:txBody>
          <a:bodyPr/>
          <a:lstStyle/>
          <a:p>
            <a:pPr/>
            <a:r>
              <a:t>Introduces non-linear element to learn complex non-linear relationships</a:t>
            </a:r>
          </a:p>
          <a:p>
            <a:pPr/>
            <a:r>
              <a:t>Simple function: ReLU(x) = max(0, x)</a:t>
            </a:r>
          </a:p>
          <a:p>
            <a:pPr/>
            <a:r>
              <a:t>ReLU variants:</a:t>
            </a:r>
          </a:p>
          <a:p>
            <a:pPr lvl="1"/>
            <a:r>
              <a:t>Leaky ReLU() = max(alpha*x, x). Small slope for negative part.</a:t>
            </a:r>
          </a:p>
          <a:p>
            <a:pPr lvl="1"/>
            <a:r>
              <a:t>Parametric ReLU - has slope that is learned during training</a:t>
            </a:r>
          </a:p>
          <a:p>
            <a:pPr lvl="1"/>
            <a:r>
              <a:t>Exponential Linear ELU - for very small inputs</a:t>
            </a:r>
          </a:p>
          <a:p>
            <a:pPr/>
          </a:p>
        </p:txBody>
      </p:sp>
      <p:pic>
        <p:nvPicPr>
          <p:cNvPr id="4" name="Picture1"/>
          <p:cNvPicPr>
            <a:picLocks noChangeAspect="1"/>
            <a:extLst>
              <a:ext uri="smNativeData">
                <pr:smNativeData xmlns:pr="smNativeData" xmlns="smNativeData" val="SMDATA_17_msZJaR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DXMc/n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CITAAC4FgAAyi4AANgm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3110230" y="3693160"/>
            <a:ext cx="4495800" cy="262128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Fully connected layers at end</a:t>
            </a:r>
          </a:p>
          <a:p>
            <a:pPr/>
            <a:r>
              <a:t>for classification or regression tasks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Can be multiple fully connected layers</a:t>
            </a:r>
          </a:p>
          <a:p>
            <a:pPr/>
            <a:r>
              <a:t>Combines the previous convolutional layers to bring everything together to give final classification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Object Detection models</a:t>
            </a:r>
          </a:p>
          <a:p>
            <a:pPr/>
            <a:r>
              <a:t>recognize multiple objects in same image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YOLO - You Only Look Once - single stage/pass</a:t>
            </a:r>
          </a:p>
          <a:p>
            <a:pPr/>
            <a:r>
              <a:t>Faster R-CNN - multiple stage</a:t>
            </a:r>
          </a:p>
          <a:p>
            <a:pPr lvl="2"/>
            <a:r>
              <a:t>RPN (Region Proposal Network) first, then classifies from there.</a:t>
            </a:r>
          </a:p>
          <a:p>
            <a:pPr lvl="2"/>
            <a:r>
              <a:t>Slower but more accurate especially for complex scenes &amp; small overlapping</a:t>
            </a:r>
          </a:p>
          <a:p>
            <a:pPr/>
            <a:r>
              <a:t>DETR - Detection Transformer</a:t>
            </a:r>
          </a:p>
          <a:p>
            <a:pPr lvl="2"/>
            <a:r>
              <a:t>Requires a lot of training data</a:t>
            </a:r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pPr/>
            <a:r>
              <a:t>Image Recognition Models that only </a:t>
            </a:r>
          </a:p>
          <a:p>
            <a:pPr/>
            <a:r>
              <a:t>recognize the entire image at once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sZ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/>
            <a:r>
              <a:t>ResNet</a:t>
            </a:r>
          </a:p>
          <a:p>
            <a:pPr/>
            <a:r>
              <a:t>MobileNet - Made for Mobile devices</a:t>
            </a:r>
          </a:p>
          <a:p>
            <a:pPr/>
            <a:r>
              <a:t>EfficientNet v2 - has variants for different needs</a:t>
            </a:r>
          </a:p>
          <a:p>
            <a:pPr/>
            <a:r>
              <a:t>Slower but could be optimized:</a:t>
            </a:r>
          </a:p>
          <a:p>
            <a:pPr lvl="1"/>
            <a:r>
              <a:t>Swin Transformer</a:t>
            </a:r>
          </a:p>
          <a:p>
            <a:pPr lvl="1"/>
            <a:r>
              <a:t>ConvNeXt - modern CNN better than transformers</a:t>
            </a:r>
          </a:p>
          <a:p>
            <a:pPr lvl="1"/>
            <a:r>
              <a:t>CoCa / PaLI / CoAtNet - state-of-the-art / best accuracy</a:t>
            </a:r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9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PyTorch</dc:title>
  <dc:subject/>
  <dc:creator/>
  <cp:keywords/>
  <dc:description/>
  <cp:lastModifiedBy>bluuu</cp:lastModifiedBy>
  <cp:revision>0</cp:revision>
  <dcterms:created xsi:type="dcterms:W3CDTF">2025-11-27T05:42:01Z</dcterms:created>
  <dcterms:modified xsi:type="dcterms:W3CDTF">2025-12-22T22:30:50Z</dcterms:modified>
</cp:coreProperties>
</file>