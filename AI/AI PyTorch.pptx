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ebp" ContentType="image/webp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3" r:id="rId3"/>
    <p:sldId id="259" r:id="rId4"/>
    <p:sldId id="271" r:id="rId5"/>
    <p:sldId id="261" r:id="rId6"/>
    <p:sldId id="260" r:id="rId7"/>
    <p:sldId id="258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4" r:id="rId19"/>
  </p:sldIdLst>
  <p:sldSz cx="12192000" cy="6858000"/>
  <p:notesSz cx="6858000" cy="12192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0000FF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smNativeData">
      <pr:smAppRevision xmlns:mc="http://schemas.openxmlformats.org/markup-compatibility/2006" xmlns:p14="http://schemas.microsoft.com/office/powerpoint/2010/main" xmlns:p15="http://schemas.microsoft.com/office/powerpoint/2012/main" xmlns:pr="smNativeData" xmlns="smNativeData" dt="1766462014" val="1228" revOS="4"/>
      <pr:smFileRevision xmlns:mc="http://schemas.openxmlformats.org/markup-compatibility/2006" xmlns:p14="http://schemas.microsoft.com/office/powerpoint/2010/main" xmlns:p15="http://schemas.microsoft.com/office/powerpoint/2012/main" xmlns:pr="smNativeData" xmlns="smNativeData" dt="1766462014" val="101"/>
      <pr:guideOptions xmlns:mc="http://schemas.openxmlformats.org/markup-compatibility/2006" xmlns:p14="http://schemas.microsoft.com/office/powerpoint/2010/main" xmlns:p15="http://schemas.microsoft.com/office/powerpoint/2012/main" xmlns:pr="smNativeData" xmlns="smNativeData" dt="1766462014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 showGuides="1">
      <p:cViewPr varScale="1">
        <p:scale>
          <a:sx n="156" d="100"/>
          <a:sy n="156" d="100"/>
        </p:scale>
        <p:origin x="456" y="1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" d="100"/>
        <a:sy n="15" d="100"/>
      </p:scale>
      <p:origin x="0" y="0"/>
    </p:cViewPr>
  </p:sorterViewPr>
  <p:notesViewPr>
    <p:cSldViewPr snapToObjects="1" showGuides="1">
      <p:cViewPr>
        <p:scale>
          <a:sx n="70" d="100"/>
          <a:sy n="70" d="100"/>
        </p:scale>
        <p:origin x="384" y="555"/>
      </p:cViewPr>
      <p:guideLst/>
    </p:cSldViewPr>
  </p:notesViewPr>
  <p:gridSpacing cx="71755" cy="7175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xYQ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BAAAAAmAAAACAAAAAEAAAAAAAAA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yUxw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CA782B9-F7E1-F274-AF1F-0121CC515954}" type="datetime1">
              <a:t>12/29/2025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xpY2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0CA7D215-5BE1-F224-AF1F-AD719C5159F8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MDcr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CA7AC8E-C0E1-F25A-AF1F-360FE2515963}" type="datetime1">
              <a:t>12/29/2025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0CA7DD58-16E1-F22B-AF1F-E07E935159B5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BwbAACtRQAAfSMAABAAAAAmAAAACAAAAIGQ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aoyw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OERAACtRQAAHBsAABAAAAAmAAAACAAAAIGQ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CA7866B-25E1-F270-AF1F-D325C8515986}" type="datetime1">
              <a:t>12/29/2025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AoW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0CA7D6E4-AAE1-F220-AF1F-5C7598515909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g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Dh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hUxw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yYAANgJAABARwAAsCUAABAAAAAmAAAACAAAAAGAAAAAAAAA"/>
              </a:ext>
            </a:extLst>
          </p:cNvSpPr>
          <p:nvPr>
            <p:ph idx="2"/>
          </p:nvPr>
        </p:nvSpPr>
        <p:spPr>
          <a:xfrm>
            <a:off x="6196965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CA7C2C1-8FE1-F234-AF1F-79618C51592C}" type="datetime1">
              <a:t>12/29/2025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rv9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0CA7C6FE-B0E1-F230-AF1F-466588515913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L1+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HEJAADjJAAAYQ0AABAAAAAmAAAACAAAAIGQAAAAAAAA"/>
              </a:ext>
            </a:extLst>
          </p:cNvSpPr>
          <p:nvPr>
            <p:ph idx="1"/>
          </p:nvPr>
        </p:nvSpPr>
        <p:spPr>
          <a:xfrm>
            <a:off x="609600" y="1534795"/>
            <a:ext cx="5386705" cy="64008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ENAADjJAAAsC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L1+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HEJAABARwAAYQ0AABAAAAAmAAAACAAAAIGQAAAAAAAA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/J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GENAABARwAAsCUAABAAAAAmAAAACAAAAAGAAAAAAAAA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rv9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CA79EF9-B7E1-F268-AF1F-413DD0515914}" type="datetime1">
              <a:t>12/29/2025</a:t>
            </a:fld>
            <a:endParaRPr/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Dur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0CA7F886-C8E1-F20E-AF1F-3E5BB651596B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L1+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LC8B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CA7D96E-20E1-F22F-AF1F-D67A97515983}" type="datetime1">
              <a:t>12/29/2025</a:t>
            </a:fld>
            <a:endParaRPr/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/J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0CA7F36F-21E1-F205-AF1F-D750BD515982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L1+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CA7B71A-54E1-F241-AF1F-A214F95159F7}" type="datetime1">
              <a:t>12/29/2025</a:t>
            </a:fld>
            <a:endParaRPr/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0CA7C460-2EE1-F232-AF1F-D8678A51598D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kAZ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4BAABtHAAA1AgAABAAAAAmAAAACAAAAIGQ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0AAK4BAABARwAAsCUAABAAAAAmAAAACAAAAAGAAAAAAAAA"/>
              </a:ext>
            </a:extLst>
          </p:cNvSpPr>
          <p:nvPr>
            <p:ph idx="1"/>
          </p:nvPr>
        </p:nvSpPr>
        <p:spPr>
          <a:xfrm>
            <a:off x="4766945" y="273050"/>
            <a:ext cx="6815455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CA79336-78E1-F265-AF1F-8E30DD5159DB}" type="datetime1">
              <a:t>12/29/2025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0CA7D805-4BE1-F22E-AF1F-BD7B965159E8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IgdAACzOwAABCEAABAAAAAmAAAACAAAAIGQAAAAAAAA"/>
              </a:ext>
            </a:extLst>
          </p:cNvSpPr>
          <p:nvPr>
            <p:ph type="title"/>
          </p:nvPr>
        </p:nvSpPr>
        <p:spPr>
          <a:xfrm>
            <a:off x="2389505" y="4800600"/>
            <a:ext cx="7315200" cy="56642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MYDAACzOwAAFh0AABAAAAAmAAAACAAAAAGAAAAAAAAA"/>
              </a:ext>
            </a:extLst>
          </p:cNvSpPr>
          <p:nvPr>
            <p:ph idx="1"/>
          </p:nvPr>
        </p:nvSpPr>
        <p:spPr>
          <a:xfrm>
            <a:off x="2389505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AQhAACzOwAA+CUAABAAAAAmAAAACAAAAAGAAAAAAAAA"/>
              </a:ext>
            </a:extLst>
          </p:cNvSpPr>
          <p:nvPr>
            <p:ph idx="2"/>
          </p:nvPr>
        </p:nvSpPr>
        <p:spPr>
          <a:xfrm>
            <a:off x="2389505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CA7E338-76E1-F215-AF1F-8040AD5159D5}" type="datetime1">
              <a:t>12/29/2025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0CA7B2D3-9DE1-F244-AF1F-6B11FC51593E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IQ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CA7B38B-C5E1-F245-AF1F-3310FD515966}" type="datetime1">
              <a:t>12/29/2025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0CA78C0F-41E1-F27A-AF1F-B72FC25159E2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C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DYAALABAABARwAAsCUAABAAAAAmAAAACAAAAIMQ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AfNQAAsCUAABAAAAAmAAAACAAAAAMQAAAAAAAA"/>
              </a:ext>
            </a:extLst>
          </p:cNvSpPr>
          <p:nvPr>
            <p:ph idx="1"/>
          </p:nvPr>
        </p:nvSpPr>
        <p:spPr>
          <a:xfrm>
            <a:off x="609600" y="274320"/>
            <a:ext cx="8025765" cy="5852160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CA7B96F-21E1-F24F-AF1F-D71AF7515982}" type="datetime1">
              <a:t>12/29/2025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0CA7E6B5-FBE1-F210-AF1F-0D45A8515958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fault desig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xpY2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IMfAAD//8EB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xpY2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IMfAAD//8EB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1hc3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IOfAAD//8EB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fld id="{0CA7B237-79E1-F244-AF1F-8F11FC5159DA}" type="datetime1">
              <a:t>12/29/2025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1hc3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IOfAAD//8EB"/>
              </a:ext>
            </a:extLst>
          </p:cNvSpPr>
          <p:nvPr>
            <p:ph type="ftr" sz="quarter" idx="3"/>
          </p:nvPr>
        </p:nvSpPr>
        <p:spPr>
          <a:xfrm>
            <a:off x="4166235" y="6356985"/>
            <a:ext cx="385953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ctr">
              <a:defRPr sz="1200" cap="none"/>
            </a:lvl1pPr>
          </a:lstStyle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FBQU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IOfAAD//8EB"/>
              </a:ext>
            </a:extLst>
          </p:cNvSpPr>
          <p:nvPr>
            <p:ph type="sldNum" sz="quarter" idx="4"/>
          </p:nvPr>
        </p:nvSpPr>
        <p:spPr>
          <a:xfrm>
            <a:off x="8738235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fld id="{0CA793EE-A0E1-F265-AF1F-5630DD51590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0"/>
          <a:ea typeface="SimSun" charset="0"/>
          <a:cs typeface="Times New Roman" pitchFamily="1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1pPr>
      <a:lvl2pPr marL="742950" marR="0" indent="-28575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2pPr>
      <a:lvl3pPr marL="1143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3pPr>
      <a:lvl4pPr marL="1600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4pPr>
      <a:lvl5pPr marL="20574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5pPr>
      <a:lvl6pPr marL="25146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6pPr>
      <a:lvl7pPr marL="29718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7pPr>
      <a:lvl8pPr marL="3429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8pPr>
      <a:lvl9pPr marL="3886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9pPr>
    </p:bodyStyle>
    <p:otherStyle>
      <a:lvl1pPr marL="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ltralytics/yolov5" TargetMode="External"/><Relationship Id="rId2" Type="http://schemas.openxmlformats.org/officeDocument/2006/relationships/hyperlink" Target="https://www.ccoderun.ca/programming/yolo_faq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ultralytics/ultralytics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BAAAAAmAAAACAAAAAAAAAAAAAAA"/>
              </a:ext>
            </a:extLst>
          </p:cNvSpPr>
          <p:nvPr>
            <p:ph type="ctrTitle"/>
          </p:nvPr>
        </p:nvSpPr>
        <p:spPr/>
        <p:txBody>
          <a:bodyPr/>
          <a:lstStyle/>
          <a:p>
            <a:r>
              <a:t>AI PyTorch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Folders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Code in \p\AI</a:t>
            </a:r>
          </a:p>
          <a:p>
            <a:r>
              <a:rPr lang="en-US" dirty="0" smtClean="0"/>
              <a:t>AI data in d:\AIData  *should put on network drive</a:t>
            </a:r>
          </a:p>
          <a:p>
            <a:r>
              <a:rPr lang="en-US" dirty="0" smtClean="0"/>
              <a:t>AI data sources:</a:t>
            </a:r>
          </a:p>
          <a:p>
            <a:pPr lvl="1"/>
            <a:r>
              <a:rPr lang="en-US" dirty="0" err="1" smtClean="0"/>
              <a:t>Kaggle</a:t>
            </a:r>
            <a:r>
              <a:rPr lang="en-US" dirty="0" smtClean="0"/>
              <a:t> – easy to download but usually not big datasets</a:t>
            </a:r>
          </a:p>
          <a:p>
            <a:pPr lvl="1"/>
            <a:r>
              <a:rPr lang="en-US" dirty="0" smtClean="0"/>
              <a:t>Hugging Face</a:t>
            </a:r>
          </a:p>
          <a:p>
            <a:pPr lvl="2"/>
            <a:r>
              <a:rPr lang="en-US" dirty="0" smtClean="0"/>
              <a:t>How to download? </a:t>
            </a:r>
            <a:r>
              <a:rPr lang="en-US" smtClean="0"/>
              <a:t>Use API?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0CA7AC8E-C0E1-F25A-AF1F-360FE2515963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7DD58-16E1-F22B-AF1F-E07E935159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8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Why PyTorch vs Tensorflow/Jax?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sz="2600" cap="none"/>
            </a:pPr>
            <a:r>
              <a:t>PyTorch used much more in Research / Academia</a:t>
            </a:r>
          </a:p>
          <a:p>
            <a:pPr>
              <a:defRPr sz="2600" cap="none"/>
            </a:pPr>
            <a:r>
              <a:t>PyTorch has dynamic computation graphs</a:t>
            </a:r>
          </a:p>
          <a:p>
            <a:pPr>
              <a:defRPr sz="2600" cap="none"/>
            </a:pPr>
            <a:r>
              <a:t>PyTorch easier to tweak things once you get past the basics</a:t>
            </a:r>
          </a:p>
          <a:p>
            <a:pPr>
              <a:defRPr sz="2600" cap="none"/>
            </a:pPr>
            <a:r>
              <a:t>PyTorch easier to debug</a:t>
            </a:r>
          </a:p>
          <a:p>
            <a:pPr>
              <a:defRPr sz="2600" cap="none"/>
            </a:pPr>
            <a:r>
              <a:t>Why Tensorflow / Jax?</a:t>
            </a:r>
          </a:p>
          <a:p>
            <a:pPr lvl="1">
              <a:defRPr sz="2200" cap="none"/>
            </a:pPr>
            <a:r>
              <a:t>Easier to get started (but harder to tweek afterward)</a:t>
            </a:r>
          </a:p>
          <a:p>
            <a:pPr lvl="1">
              <a:defRPr sz="2200" cap="none"/>
            </a:pPr>
            <a:r>
              <a:t>Jax (also Google) might be taking over from Tensorflow - but not for beginners</a:t>
            </a:r>
          </a:p>
          <a:p>
            <a:pPr lvl="2">
              <a:defRPr sz="1800" cap="none"/>
            </a:pPr>
            <a:r>
              <a:t>Numpy-like syntax </a:t>
            </a:r>
          </a:p>
          <a:p>
            <a:pPr lvl="1">
              <a:defRPr sz="2200" cap="none"/>
            </a:pPr>
            <a:r>
              <a:t>Jax is faster - sometimes 4-5x</a:t>
            </a:r>
          </a:p>
          <a:p>
            <a:pPr lvl="2">
              <a:defRPr sz="1800" cap="none"/>
            </a:pPr>
            <a:r>
              <a:t>Just in time compilation</a:t>
            </a:r>
          </a:p>
          <a:p>
            <a:pPr lvl="2">
              <a:defRPr sz="1800" cap="none"/>
            </a:pPr>
            <a:r>
              <a:t>Accelerated Linear Algebra</a:t>
            </a:r>
          </a:p>
          <a:p>
            <a:pPr lvl="1"/>
            <a:r>
              <a:rPr sz="2200" cap="none"/>
              <a:t>‘J’ is just-in-time compilation, ‘A’ is Automatic Differentiation/Derivative, ‘X’ - Xcelerated Linear Algebra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AAAAAAmAAAACAAAAAEAAAAAAAAA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</p:spPr>
        <p:txBody>
          <a:bodyPr/>
          <a:lstStyle/>
          <a:p>
            <a:r>
              <a:t>Installing PyTorch &amp; CUDA:</a:t>
            </a:r>
          </a:p>
          <a:p>
            <a:r>
              <a:t>https://pytorch.org/get-started/locally/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OLEObject1"/>
          <p:cNvGraphicFrame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PhJKaRMAAAAlAAAAM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EAAAAjAAAABAAAAGQAAAAXAAAAFAAAAAAAAAAAAAAA/38AAP9/AAAAAAAACQAAAAQAAAAAAAAAHgAAAGgAAAAAAAAAAAAAAAAAAAAAAAAAAAAAABAnAAAQJwAAAAAAAAAAAAAAAAAAAAAAAAAAAAAAAAAAAAAAAAAAAAAUAAAAAAAAAMDA/wAAAAAAZAAAADIAAAAAAAAAZAAAAAAAAAB/f38AAA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J8EAAC3CgAAoEYAAKMkAAAAAAAAJgAAAAgAAAD//////////w=="/>
              </a:ext>
            </a:extLst>
          </p:cNvGraphicFramePr>
          <p:nvPr/>
        </p:nvGraphicFramePr>
        <p:xfrm>
          <a:off x="751205" y="1741805"/>
          <a:ext cx="10729595" cy="4213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Paint.Picture" r:id="rId3" imgW="7802880" imgH="7802880" progId="Paint.Picture">
                  <p:embed/>
                </p:oleObj>
              </mc:Choice>
              <mc:Fallback>
                <p:oleObj name="Paint.Picture" r:id="rId3" imgW="7802880" imgH="7802880" progId="Paint.Picture">
                  <p:embed/>
                  <p:pic>
                    <p:nvPicPr>
                      <p:cNvPr id="0" name="OLEObject1" descr="image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05" y="1741805"/>
                        <a:ext cx="10729595" cy="4213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Conda install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r>
              <a:t>Prefer using ‘conda install’ over ’pip install’, like:</a:t>
            </a:r>
          </a:p>
          <a:p>
            <a:pPr lvl="1"/>
            <a:r>
              <a:t>conda install pytorch torchvision torchaudio cudatoolkit=10.2 -c</a:t>
            </a:r>
          </a:p>
          <a:p>
            <a:pPr lvl="1"/>
            <a:r>
              <a:t>conda install -c conda-forge tensorboard</a:t>
            </a:r>
          </a:p>
          <a:p>
            <a:pPr lvl="2"/>
            <a:r>
              <a:t>*tensorboard was made for tensorflow BUT can be used w/PyTorch</a:t>
            </a:r>
          </a:p>
          <a:p>
            <a:pPr lvl="1"/>
            <a:r>
              <a:t>pip install torchviz</a:t>
            </a:r>
          </a:p>
          <a:p>
            <a:pPr lvl="2"/>
            <a:r>
              <a:t>*sometimes conda install option not available.</a:t>
            </a:r>
          </a:p>
          <a:p>
            <a:pPr lvl="2"/>
            <a:r>
              <a:t>*Torchviz requires GraphViz to be installed first.</a:t>
            </a:r>
          </a:p>
          <a:p>
            <a:r>
              <a:t>Often need to create environment (like PyTorchStepByStep):</a:t>
            </a:r>
          </a:p>
          <a:p>
            <a:pPr lvl="1"/>
            <a:r>
              <a:t>conda env create -f environment.yaml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Computer PyTorch installs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r>
              <a:t>main Win10 Ryzen5 7600X3D 4100Mhz 64gb RTX3060 12gb:</a:t>
            </a:r>
          </a:p>
          <a:p>
            <a:pPr lvl="1"/>
            <a:r>
              <a:t>Has Python 3.9 PyTorch that works in Visual Studio</a:t>
            </a:r>
          </a:p>
          <a:p>
            <a:r>
              <a:t>Ubuntu Ryzen 5 5500 2400Mhz 32gb RTX4060Ti 16gb:</a:t>
            </a:r>
          </a:p>
          <a:p>
            <a:pPr lvl="1">
              <a:defRPr sz="2000" cap="none"/>
            </a:pPr>
            <a:r>
              <a:t>Visual Studio Code will run the conda environments including:</a:t>
            </a:r>
          </a:p>
          <a:p>
            <a:pPr lvl="2">
              <a:defRPr sz="1600" cap="none"/>
            </a:pPr>
            <a:r>
              <a:t>ldm</a:t>
            </a:r>
          </a:p>
          <a:p>
            <a:pPr lvl="2">
              <a:defRPr sz="1600" cap="none"/>
            </a:pPr>
            <a:r>
              <a:t>pytorchbook</a:t>
            </a:r>
          </a:p>
          <a:p>
            <a:pPr lvl="1">
              <a:defRPr sz="2000" cap="none"/>
            </a:pPr>
            <a:r>
              <a:t>*But how to debug on Linux?!?</a:t>
            </a:r>
          </a:p>
          <a:p>
            <a:pPr lvl="1">
              <a:defRPr sz="2000" cap="none"/>
            </a:pPr>
            <a:r>
              <a:t>The pytorch jupyter notebooks seem to work well with it.</a:t>
            </a:r>
          </a:p>
          <a:p>
            <a:pPr lvl="1"/>
            <a:r>
              <a:rPr sz="2000" cap="none"/>
              <a:t>Probably better to ‘conda pytorchnotebook’ and then ‘code’ to get into Visual Studio Code</a:t>
            </a:r>
          </a:p>
          <a:p>
            <a:r>
              <a:t>Laptop Win11 i5-134020H 2100Mhz 16gb RTX4050 6gb:</a:t>
            </a:r>
          </a:p>
          <a:p>
            <a:pPr lvl="1"/>
            <a:r>
              <a:t>Has Python 3.9 PyTorch that works in Visual Studio</a:t>
            </a:r>
          </a:p>
          <a:p>
            <a:r>
              <a:t>Gaming Win11 Ryzen9 7900X(12c) 32gb RTX5070 12gb</a:t>
            </a:r>
          </a:p>
          <a:p>
            <a:r>
              <a:t>Mac Mini 16GB: PyTorch is possible but slow</a:t>
            </a:r>
          </a:p>
          <a:p>
            <a:pPr lvl="1"/>
            <a:endParaRPr/>
          </a:p>
          <a:p>
            <a:pPr lvl="1"/>
            <a:endParaRPr/>
          </a:p>
          <a:p>
            <a:pPr lvl="1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Books and what they cover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sz="2400" cap="none"/>
            </a:pPr>
            <a:r>
              <a:t>Deep Learning with PyTorch step-by-step :</a:t>
            </a:r>
          </a:p>
          <a:p>
            <a:pPr lvl="1">
              <a:defRPr sz="2000" cap="none"/>
            </a:pPr>
            <a:r>
              <a:t>Daniel Voigt Godoy, 2024 v1.2, PyTorch</a:t>
            </a:r>
          </a:p>
          <a:p>
            <a:pPr lvl="1">
              <a:defRPr sz="2000" cap="none"/>
            </a:pPr>
            <a:r>
              <a:t>Have paperback &amp; Kindle version. There is Volume II and III, though, I don’t have.</a:t>
            </a:r>
          </a:p>
          <a:p>
            <a:pPr lvl="1">
              <a:defRPr sz="2000" cap="none"/>
            </a:pPr>
            <a:r>
              <a:t>\git\PyTorchStepByStep</a:t>
            </a:r>
          </a:p>
          <a:p>
            <a:pPr>
              <a:defRPr sz="2400" cap="none"/>
            </a:pPr>
            <a:r>
              <a:t>Deep Learning with PyTorch:</a:t>
            </a:r>
          </a:p>
          <a:p>
            <a:pPr lvl="1">
              <a:defRPr sz="2000" cap="none"/>
            </a:pPr>
            <a:r>
              <a:t>Stevens / Antiga / Viehmann, 2020, PyTorch</a:t>
            </a:r>
          </a:p>
          <a:p>
            <a:pPr lvl="1">
              <a:defRPr sz="2000" cap="none"/>
            </a:pPr>
            <a:r>
              <a:t>\git\dlwpt-code</a:t>
            </a:r>
          </a:p>
          <a:p>
            <a:pPr lvl="1">
              <a:defRPr sz="2000" cap="none"/>
            </a:pPr>
            <a:r>
              <a:t>Have paperback.</a:t>
            </a:r>
          </a:p>
          <a:p>
            <a:pPr>
              <a:defRPr sz="2400" cap="none"/>
            </a:pPr>
            <a:r>
              <a:t>Deep Learning for Dummies 2019:</a:t>
            </a:r>
          </a:p>
          <a:p>
            <a:pPr lvl="1">
              <a:defRPr sz="2000" cap="none"/>
            </a:pPr>
            <a:r>
              <a:t>Tensorflow &amp; Keras</a:t>
            </a:r>
          </a:p>
          <a:p>
            <a:pPr lvl="1">
              <a:defRPr sz="2000" cap="none"/>
            </a:pPr>
            <a:r>
              <a:t>\git\dl4dummies</a:t>
            </a:r>
          </a:p>
          <a:p>
            <a:pPr>
              <a:defRPr sz="2400" cap="none"/>
            </a:pPr>
            <a:r>
              <a:t>Deep Learning with Python 2018:</a:t>
            </a:r>
          </a:p>
          <a:p>
            <a:pPr lvl="1">
              <a:defRPr sz="2000" cap="none"/>
            </a:pPr>
            <a:r>
              <a:t>Tensorflow &amp; Keras</a:t>
            </a:r>
          </a:p>
          <a:p>
            <a:pPr lvl="1"/>
            <a:r>
              <a:rPr sz="2000" cap="none"/>
              <a:t>\git\deep-learning-with-python-notebooks</a:t>
            </a:r>
            <a:endParaRPr sz="2400" cap="none"/>
          </a:p>
          <a:p>
            <a:endParaRPr sz="2400" cap="none"/>
          </a:p>
          <a:p>
            <a:endParaRPr sz="24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Dynamic Computation Graph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r>
              <a:t>DAG (Directed Acyclic Graph) of operations</a:t>
            </a:r>
          </a:p>
          <a:p>
            <a:pPr lvl="1"/>
            <a:r>
              <a:t>Allows models to optimized at run-time:</a:t>
            </a:r>
          </a:p>
          <a:p>
            <a:pPr lvl="2"/>
            <a:r>
              <a:t>Can change shape/size and operations after each iteration if needed</a:t>
            </a:r>
          </a:p>
          <a:p>
            <a:pPr lvl="1"/>
            <a:endParaRPr/>
          </a:p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Inherit from nn.Module to create Neural Net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r>
              <a:t>class MyNet(nn.Module):</a:t>
            </a:r>
          </a:p>
          <a:p>
            <a:pPr lvl="1"/>
            <a:r>
              <a:t>def __init__(self):</a:t>
            </a:r>
          </a:p>
          <a:p>
            <a:pPr lvl="2"/>
            <a:r>
              <a:t># Init the neural network</a:t>
            </a:r>
          </a:p>
          <a:p>
            <a:pPr lvl="2"/>
            <a:r>
              <a:t>super.__init__()</a:t>
            </a:r>
          </a:p>
          <a:p>
            <a:pPr lvl="2"/>
            <a:r>
              <a:t># Flatten data, such as 28x28 image to linear array/tensor.</a:t>
            </a:r>
          </a:p>
          <a:p>
            <a:pPr lvl="2"/>
            <a:r>
              <a:t>self.flatten = nn.Flatten()</a:t>
            </a:r>
          </a:p>
          <a:p>
            <a:pPr lvl="2"/>
            <a:r>
              <a:t># Add layers as needed:</a:t>
            </a:r>
          </a:p>
          <a:p>
            <a:pPr lvl="2"/>
            <a:r>
              <a:t>self.linear_relu_stack = nn.Sequential(</a:t>
            </a:r>
          </a:p>
          <a:p>
            <a:pPr lvl="3"/>
            <a:r>
              <a:t>nn.Linear(28*28, 512),</a:t>
            </a:r>
          </a:p>
          <a:p>
            <a:pPr lvl="3"/>
            <a:r>
              <a:t>nn.ReLU(), # Linear activation function outputs node or zero if not important.</a:t>
            </a:r>
          </a:p>
          <a:p>
            <a:pPr lvl="3"/>
            <a:r>
              <a:t>nn.Linear(512,512),</a:t>
            </a:r>
          </a:p>
          <a:p>
            <a:pPr lvl="3"/>
            <a:r>
              <a:t>nn.Linear(512,10)) # Output the 10 labels the model is trying to predict.</a:t>
            </a:r>
          </a:p>
          <a:p>
            <a:pPr lvl="2"/>
            <a:endParaRPr/>
          </a:p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rPr lang="en-US" cap="none"/>
              <a:t>TorchVision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chIAABAAAAAmAAAACAAAAAEAAAAAAAAA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1398270"/>
          </a:xfrm>
        </p:spPr>
        <p:txBody>
          <a:bodyPr/>
          <a:lstStyle/>
          <a:p>
            <a:r>
              <a:rPr lang="en-US" cap="none"/>
              <a:t>Transforms / datasets / models for computer vision</a:t>
            </a:r>
          </a:p>
          <a:p>
            <a:r>
              <a:rPr lang="en-US" cap="none"/>
              <a:t>Models such as:</a:t>
            </a:r>
          </a:p>
          <a:p>
            <a:pPr lvl="1"/>
            <a:r>
              <a:rPr lang="en-US" cap="none"/>
              <a:t>resnet18: convolutional NN that is 18 layers deep</a:t>
            </a:r>
          </a:p>
          <a:p>
            <a:pPr lvl="1"/>
            <a:r>
              <a:rPr lang="en-US" cap="none"/>
              <a:t>resnet50, resnet101, etc.</a:t>
            </a:r>
          </a:p>
          <a:p>
            <a:pPr lvl="1"/>
            <a:r>
              <a:rPr lang="en-US" cap="none"/>
              <a:t>EfficientNet?</a:t>
            </a:r>
          </a:p>
          <a:p>
            <a:pPr lvl="1"/>
            <a:r>
              <a:rPr lang="en-US" cap="none"/>
              <a:t>Swin Transformers?</a:t>
            </a:r>
          </a:p>
          <a:p>
            <a:pPr lvl="1"/>
            <a:endParaRPr lang="en-US" cap="none"/>
          </a:p>
          <a:p>
            <a:pPr marL="0" indent="0">
              <a:buNone/>
            </a:pPr>
            <a:endParaRPr lang="en-US" cap="none"/>
          </a:p>
          <a:p>
            <a:pPr marL="0" indent="0">
              <a:buNone/>
            </a:pPr>
            <a:endParaRPr lang="en-US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CA7B3A4-EAE1-F245-AF1F-1C10FD515949}" type="datetime1">
              <a:rPr lang="en-US" cap="none"/>
              <a:t>12/29/2025</a:t>
            </a:fld>
            <a:endParaRPr lang="en-US" cap="none"/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cgBU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0CA7938C-C2E1-F265-AF1F-3430DD515961}" type="slidenum">
              <a:rPr lang="en-US" cap="none"/>
              <a:t>10</a:t>
            </a:fld>
            <a:endParaRPr lang="en-US" cap="none"/>
          </a:p>
        </p:txBody>
      </p:sp>
      <p:sp>
        <p:nvSpPr>
          <p:cNvPr id="6" name="TextBox 5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E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B/f38AgICAA8zMzADAwP8Af39/AAAAAAAAAAAAAAAAAAAAAAAAAAAAIQAAABgAAAAUAAAA1gQAAEYbAABwJAAAESYAABAgAAAmAAAACAAAAP//////////"/>
              </a:ext>
            </a:extLst>
          </p:cNvSpPr>
          <p:nvPr/>
        </p:nvSpPr>
        <p:spPr>
          <a:xfrm>
            <a:off x="786130" y="4433570"/>
            <a:ext cx="5137150" cy="1754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r>
              <a:rPr lang="en-US" cap="none"/>
              <a:t>transform = transforms.Compose([</a:t>
            </a:r>
          </a:p>
          <a:p>
            <a:r>
              <a:rPr lang="en-US" cap="none"/>
              <a:t>    transforms.Resize((img_size, img_size)),</a:t>
            </a:r>
          </a:p>
          <a:p>
            <a:r>
              <a:rPr lang="en-US" cap="none"/>
              <a:t>    transforms.ToTensor(),</a:t>
            </a:r>
          </a:p>
          <a:p>
            <a:r>
              <a:rPr lang="en-US" cap="none"/>
              <a:t>    transforms.Normalize(mean=[0.485, 0.456, 0.406],</a:t>
            </a:r>
          </a:p>
          <a:p>
            <a:r>
              <a:rPr lang="en-US" cap="none"/>
              <a:t>                         std=[0.229, 0.224, 0.225]),</a:t>
            </a:r>
          </a:p>
          <a:p>
            <a:r>
              <a:rPr lang="en-US" cap="none"/>
              <a:t>])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rPr lang="en-US" cap="none"/>
              <a:t>TorchAudio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r>
              <a:t>Speech Recognition</a:t>
            </a:r>
          </a:p>
          <a:p>
            <a:r>
              <a:t>Wave data-to-vector transforms</a:t>
            </a:r>
          </a:p>
          <a:p>
            <a:endParaRPr/>
          </a:p>
          <a:p>
            <a:endParaRPr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CA782CB-85E1-F274-AF1F-7321CC515926}" type="datetime1">
              <a:rPr lang="en-US" cap="none"/>
              <a:t>12/29/2025</a:t>
            </a:fld>
            <a:endParaRPr lang="en-US" cap="none"/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0CA7D267-29E1-F224-AF1F-DF719C51598A}" type="slidenum">
              <a:rPr lang="en-US" cap="none"/>
              <a:t>11</a:t>
            </a:fld>
            <a:endParaRPr lang="en-US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CNN = Convolutional Neural Net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sz="2800" cap="none"/>
            </a:pPr>
            <a:r>
              <a:t>Convolution combines two math functions to produce a third</a:t>
            </a:r>
          </a:p>
          <a:p>
            <a:pPr lvl="1">
              <a:defRPr sz="2400" cap="none"/>
            </a:pPr>
            <a:r>
              <a:t>Conv2D is used for 2D-image convolution</a:t>
            </a:r>
          </a:p>
          <a:p>
            <a:pPr>
              <a:defRPr sz="2800" cap="none"/>
            </a:pPr>
            <a:r>
              <a:t>In image recognition, images are filtered for various features</a:t>
            </a:r>
          </a:p>
          <a:p>
            <a:pPr lvl="1">
              <a:defRPr sz="2400" cap="none"/>
            </a:pPr>
            <a:r>
              <a:t>Kernels = learnable filters that are adjusted during training</a:t>
            </a:r>
          </a:p>
          <a:p>
            <a:pPr lvl="1">
              <a:defRPr sz="2400" cap="none"/>
            </a:pPr>
            <a:r>
              <a:t>Detect on the filtered image (ReLU)</a:t>
            </a:r>
          </a:p>
          <a:p>
            <a:pPr>
              <a:defRPr sz="2800" cap="none"/>
            </a:pPr>
            <a:r>
              <a:t>The filters/kernels are slid over the input image to create a product at each position, followed by summation to produce an output feature map</a:t>
            </a:r>
          </a:p>
          <a:p>
            <a:pPr>
              <a:defRPr sz="2800" cap="none"/>
            </a:pPr>
            <a:r>
              <a:t>bias = offsets or shift adjustment</a:t>
            </a:r>
          </a:p>
          <a:p>
            <a:pPr>
              <a:defRPr sz="2800" cap="none"/>
            </a:pPr>
            <a:r>
              <a:t>CNN usually uses multiple filters simultaneously</a:t>
            </a:r>
          </a:p>
          <a:p>
            <a:pPr lvl="1">
              <a:defRPr sz="2400" cap="none"/>
            </a:pPr>
            <a:r>
              <a:t>Many features in each layer</a:t>
            </a:r>
          </a:p>
          <a:p>
            <a:pPr lvl="1"/>
            <a:r>
              <a:rPr sz="2400" cap="none"/>
              <a:t>Many layers allow complex heirarchical combos of features</a:t>
            </a:r>
          </a:p>
          <a:p>
            <a:pPr lvl="1"/>
            <a:endParaRPr sz="24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ReLU function</a:t>
            </a:r>
          </a:p>
          <a:p>
            <a:r>
              <a:t>Rectified Linear Unit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ARRwAAihIAABAAAAAmAAAACAAAAAEAAAAAAAAA"/>
              </a:ext>
            </a:extLst>
          </p:cNvSpPr>
          <p:nvPr>
            <p:ph type="body" idx="1"/>
          </p:nvPr>
        </p:nvSpPr>
        <p:spPr>
          <a:xfrm>
            <a:off x="609600" y="1600200"/>
            <a:ext cx="10942955" cy="1413510"/>
          </a:xfrm>
        </p:spPr>
        <p:txBody>
          <a:bodyPr/>
          <a:lstStyle/>
          <a:p>
            <a:r>
              <a:t>Introduces non-linear element to learn complex non-linear relationships</a:t>
            </a:r>
          </a:p>
          <a:p>
            <a:r>
              <a:t>Simple function: ReLU(x) = max(0, x)</a:t>
            </a:r>
          </a:p>
          <a:p>
            <a:r>
              <a:t>ReLU variants:</a:t>
            </a:r>
          </a:p>
          <a:p>
            <a:pPr lvl="1"/>
            <a:r>
              <a:t>Leaky ReLU() = max(alpha*x, x). Small slope for negative part.</a:t>
            </a:r>
          </a:p>
          <a:p>
            <a:pPr lvl="1"/>
            <a:r>
              <a:t>Parametric ReLU - has slope that is learned during training</a:t>
            </a:r>
          </a:p>
          <a:p>
            <a:pPr lvl="1"/>
            <a:r>
              <a:t>Exponential Linear ELU - for very small inputs</a:t>
            </a:r>
          </a:p>
          <a:p>
            <a:endParaRPr/>
          </a:p>
        </p:txBody>
      </p:sp>
      <p:pic>
        <p:nvPicPr>
          <p:cNvPr id="4" name="Picture1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PhJK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DXMc/n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CITAAC4FgAAyi4AANgm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3110230" y="3693160"/>
            <a:ext cx="4495800" cy="26212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Fully connected layers at end</a:t>
            </a:r>
          </a:p>
          <a:p>
            <a:r>
              <a:t>for classification or regression tasks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r>
              <a:t>Can be multiple fully connected layers</a:t>
            </a:r>
          </a:p>
          <a:p>
            <a:r>
              <a:t>Combines the previous convolutional layers to bring everything together to give final classification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Object Detection models</a:t>
            </a:r>
          </a:p>
          <a:p>
            <a:r>
              <a:t>recognize multiple objects in same image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AAAAAAmAAAACAAAAAEAAAAAAAAA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</p:spPr>
        <p:txBody>
          <a:bodyPr/>
          <a:lstStyle/>
          <a:p>
            <a:r>
              <a:rPr sz="2400" dirty="0"/>
              <a:t>YOLO - You Only Look Once - single stage/pass</a:t>
            </a:r>
          </a:p>
          <a:p>
            <a:pPr lvl="1"/>
            <a:r>
              <a:rPr sz="2000" dirty="0" err="1"/>
              <a:t>Darknet</a:t>
            </a:r>
            <a:r>
              <a:rPr sz="2000" dirty="0"/>
              <a:t> latest version is v4 but is continually being improved</a:t>
            </a:r>
          </a:p>
          <a:p>
            <a:pPr lvl="2">
              <a:defRPr cap="none">
                <a:hlinkClick r:id="rId2"/>
              </a:defRPr>
            </a:pPr>
            <a:r>
              <a:rPr sz="1800" dirty="0">
                <a:hlinkClick r:id="rId2"/>
              </a:rPr>
              <a:t>https://www.ccoderun.ca/programming/yolo_faq/</a:t>
            </a:r>
          </a:p>
          <a:p>
            <a:pPr lvl="2"/>
            <a:r>
              <a:rPr sz="1800" dirty="0"/>
              <a:t>https://github.com/hank-ai/darknet</a:t>
            </a:r>
          </a:p>
          <a:p>
            <a:pPr lvl="1"/>
            <a:r>
              <a:rPr sz="2000" dirty="0"/>
              <a:t>Non-</a:t>
            </a:r>
            <a:r>
              <a:rPr sz="2000" dirty="0" err="1"/>
              <a:t>Darknet</a:t>
            </a:r>
            <a:r>
              <a:rPr sz="2000" dirty="0"/>
              <a:t> versions are v5+</a:t>
            </a:r>
          </a:p>
          <a:p>
            <a:pPr lvl="2"/>
            <a:r>
              <a:rPr sz="1800" dirty="0"/>
              <a:t>*Note that </a:t>
            </a:r>
            <a:r>
              <a:rPr lang="en-US" sz="1800" dirty="0" err="1" smtClean="0"/>
              <a:t>U</a:t>
            </a:r>
            <a:r>
              <a:rPr sz="1800" dirty="0" err="1" smtClean="0"/>
              <a:t>ltralytics</a:t>
            </a:r>
            <a:r>
              <a:rPr sz="1800" dirty="0" smtClean="0"/>
              <a:t> </a:t>
            </a:r>
            <a:r>
              <a:rPr sz="1800" dirty="0"/>
              <a:t>does not own Yolo! You can make these models on your own, but they do provide pre-trained </a:t>
            </a:r>
            <a:r>
              <a:rPr sz="1800" dirty="0" smtClean="0"/>
              <a:t>weights</a:t>
            </a:r>
            <a:r>
              <a:rPr lang="en-US" sz="1800" dirty="0" smtClean="0"/>
              <a:t> and super-easy python library (pay if commercial)</a:t>
            </a:r>
            <a:r>
              <a:rPr sz="1800" dirty="0" smtClean="0"/>
              <a:t>.</a:t>
            </a:r>
            <a:endParaRPr sz="1800" dirty="0"/>
          </a:p>
          <a:p>
            <a:pPr lvl="2"/>
            <a:r>
              <a:rPr sz="1800" dirty="0"/>
              <a:t>v5: </a:t>
            </a:r>
            <a:r>
              <a:rPr sz="1800" cap="none" dirty="0">
                <a:hlinkClick r:id="rId3"/>
              </a:rPr>
              <a:t>https://github.com/ultralytics/yolov5</a:t>
            </a:r>
          </a:p>
          <a:p>
            <a:pPr lvl="2"/>
            <a:r>
              <a:rPr sz="1800" dirty="0"/>
              <a:t>v11: </a:t>
            </a:r>
            <a:r>
              <a:rPr sz="1800" cap="none" dirty="0">
                <a:hlinkClick r:id="rId4"/>
              </a:rPr>
              <a:t>https://github.com/ultralytics/ultralytics</a:t>
            </a:r>
          </a:p>
          <a:p>
            <a:pPr lvl="2"/>
            <a:endParaRPr sz="1800" cap="none" dirty="0">
              <a:hlinkClick r:id="rId4"/>
            </a:endParaRPr>
          </a:p>
          <a:p>
            <a:r>
              <a:rPr sz="2400" dirty="0"/>
              <a:t>Faster R-CNN - multiple stage</a:t>
            </a:r>
          </a:p>
          <a:p>
            <a:pPr lvl="2"/>
            <a:r>
              <a:rPr sz="1800" dirty="0"/>
              <a:t>RPN (Region Proposal Network) first, then classifies from there.</a:t>
            </a:r>
          </a:p>
          <a:p>
            <a:pPr lvl="2"/>
            <a:r>
              <a:rPr sz="1800" dirty="0"/>
              <a:t>Slower but more accurate especially for complex scenes &amp; small overlapping</a:t>
            </a:r>
          </a:p>
          <a:p>
            <a:r>
              <a:rPr sz="2400" dirty="0"/>
              <a:t>DETR - Detection Transformer</a:t>
            </a:r>
          </a:p>
          <a:p>
            <a:pPr lvl="2"/>
            <a:r>
              <a:rPr sz="1800" dirty="0"/>
              <a:t>Requires a lot of training data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Image Recognition Models that only </a:t>
            </a:r>
          </a:p>
          <a:p>
            <a:r>
              <a:t>recognize the entire image at once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PhJKaR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r>
              <a:t>ResNet</a:t>
            </a:r>
          </a:p>
          <a:p>
            <a:r>
              <a:t>MobileNet - Made for Mobile devices</a:t>
            </a:r>
          </a:p>
          <a:p>
            <a:r>
              <a:t>EfficientNet v2 - has variants for different needs</a:t>
            </a:r>
          </a:p>
          <a:p>
            <a:r>
              <a:t>Slower but could be optimized:</a:t>
            </a:r>
          </a:p>
          <a:p>
            <a:pPr lvl="1"/>
            <a:r>
              <a:t>Swin Transformer</a:t>
            </a:r>
          </a:p>
          <a:p>
            <a:pPr lvl="1"/>
            <a:r>
              <a:t>ConvNeXt - modern CNN better than transformers</a:t>
            </a:r>
          </a:p>
          <a:p>
            <a:pPr lvl="1"/>
            <a:r>
              <a:t>CoCa / PaLI / CoAtNet - state-of-the-art / best accuracy</a:t>
            </a:r>
          </a:p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Recognition Models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Yolo v4 output:</a:t>
            </a:r>
          </a:p>
          <a:p>
            <a:pPr lvl="1"/>
            <a:r>
              <a:rPr lang="en-US" dirty="0" smtClean="0"/>
              <a:t>Class ID zero-based</a:t>
            </a:r>
          </a:p>
          <a:p>
            <a:pPr lvl="1"/>
            <a:r>
              <a:rPr lang="en-US" dirty="0" smtClean="0"/>
              <a:t>Floating point confidence score</a:t>
            </a:r>
          </a:p>
          <a:p>
            <a:pPr lvl="1"/>
            <a:r>
              <a:rPr lang="en-US" dirty="0" smtClean="0"/>
              <a:t>Bounding box: x, y, width, height</a:t>
            </a:r>
          </a:p>
          <a:p>
            <a:pPr lvl="2"/>
            <a:r>
              <a:rPr lang="en-US" dirty="0" err="1" smtClean="0"/>
              <a:t>x,y</a:t>
            </a:r>
            <a:r>
              <a:rPr lang="en-US" dirty="0" smtClean="0"/>
              <a:t> might be relative to cell?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0CA7AC8E-C0E1-F25A-AF1F-360FE2515963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7DD58-16E1-F22B-AF1F-E07E935159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6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Detection on Edge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Raspberry Pi AI Hat (26 Tops)</a:t>
            </a:r>
          </a:p>
          <a:p>
            <a:pPr lvl="1"/>
            <a:r>
              <a:rPr lang="en-US" dirty="0" smtClean="0"/>
              <a:t>What models are available on this??</a:t>
            </a:r>
          </a:p>
          <a:p>
            <a:pPr lvl="2"/>
            <a:r>
              <a:rPr lang="en-US" dirty="0" smtClean="0"/>
              <a:t>Can the output be parsed to identify where the object is??</a:t>
            </a:r>
          </a:p>
          <a:p>
            <a:r>
              <a:rPr lang="en-US" dirty="0" err="1" smtClean="0"/>
              <a:t>Nvidia</a:t>
            </a:r>
            <a:r>
              <a:rPr lang="en-US" dirty="0" smtClean="0"/>
              <a:t> Jetson Orin Nano (40 Tops)</a:t>
            </a:r>
          </a:p>
          <a:p>
            <a:pPr lvl="1"/>
            <a:r>
              <a:rPr lang="en-US" dirty="0" smtClean="0"/>
              <a:t>What models are available </a:t>
            </a:r>
            <a:r>
              <a:rPr lang="en-US" smtClean="0"/>
              <a:t>on this??</a:t>
            </a:r>
            <a:endParaRPr lang="en-US" dirty="0" smtClean="0"/>
          </a:p>
          <a:p>
            <a:pPr lvl="1"/>
            <a:r>
              <a:rPr lang="en-US" dirty="0" smtClean="0"/>
              <a:t>Have 2 of these: 8GB and 4GB versions</a:t>
            </a:r>
          </a:p>
          <a:p>
            <a:pPr lvl="2"/>
            <a:r>
              <a:rPr lang="en-US" dirty="0" smtClean="0"/>
              <a:t>Take NVME hard drives</a:t>
            </a:r>
          </a:p>
          <a:p>
            <a:pPr lvl="1"/>
            <a:r>
              <a:rPr lang="en-US" dirty="0" smtClean="0"/>
              <a:t>New versions:</a:t>
            </a:r>
          </a:p>
          <a:p>
            <a:pPr lvl="2"/>
            <a:r>
              <a:rPr lang="en-US" dirty="0" smtClean="0"/>
              <a:t>Super version w/67 Tops $250</a:t>
            </a:r>
          </a:p>
          <a:p>
            <a:pPr lvl="2"/>
            <a:r>
              <a:rPr lang="en-US" dirty="0" smtClean="0"/>
              <a:t>AGX Orin 275 Tops $999</a:t>
            </a:r>
          </a:p>
          <a:p>
            <a:pPr lvl="2"/>
            <a:r>
              <a:rPr lang="en-US" dirty="0" smtClean="0"/>
              <a:t>Thor 2070 Tops  $2799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0CA7AC8E-C0E1-F25A-AF1F-360FE2515963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7DD58-16E1-F22B-AF1F-E07E935159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68842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9999"/>
      </a:hlink>
      <a:folHlink>
        <a:srgbClr val="99CC00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DF7986"/>
        </a:accent3>
        <a:accent4>
          <a:srgbClr val="BF59A6"/>
        </a:accent4>
        <a:accent5>
          <a:srgbClr val="9F39C6"/>
        </a:accent5>
        <a:accent6>
          <a:srgbClr val="7F19E6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ACACDF"/>
        </a:accent3>
        <a:accent4>
          <a:srgbClr val="9C9CBF"/>
        </a:accent4>
        <a:accent5>
          <a:srgbClr val="7C7C9F"/>
        </a:accent5>
        <a:accent6>
          <a:srgbClr val="5C5C7F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6DA6DF"/>
        </a:accent3>
        <a:accent4>
          <a:srgbClr val="4D86BF"/>
        </a:accent4>
        <a:accent5>
          <a:srgbClr val="2D669F"/>
        </a:accent5>
        <a:accent6>
          <a:srgbClr val="0D467F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ACAC"/>
        </a:accent3>
        <a:accent4>
          <a:srgbClr val="738C8C"/>
        </a:accent4>
        <a:accent5>
          <a:srgbClr val="936C6C"/>
        </a:accent5>
        <a:accent6>
          <a:srgbClr val="B34C4C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6D8FA7"/>
        </a:accent3>
        <a:accent4>
          <a:srgbClr val="8DAF87"/>
        </a:accent4>
        <a:accent5>
          <a:srgbClr val="ADCF67"/>
        </a:accent5>
        <a:accent6>
          <a:srgbClr val="CDEF47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9E9980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209020"/>
        </a:accent3>
        <a:accent4>
          <a:srgbClr val="407040"/>
        </a:accent4>
        <a:accent5>
          <a:srgbClr val="605060"/>
        </a:accent5>
        <a:accent6>
          <a:srgbClr val="80308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666A6B"/>
        </a:accent3>
        <a:accent4>
          <a:srgbClr val="864A8B"/>
        </a:accent4>
        <a:accent5>
          <a:srgbClr val="A62AAB"/>
        </a:accent5>
        <a:accent6>
          <a:srgbClr val="C60ACB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A07E88"/>
        </a:accent3>
        <a:accent4>
          <a:srgbClr val="C05E68"/>
        </a:accent4>
        <a:accent5>
          <a:srgbClr val="E03E48"/>
        </a:accent5>
        <a:accent6>
          <a:srgbClr val="FF1E2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8686DF"/>
        </a:accent3>
        <a:accent4>
          <a:srgbClr val="A6A6BF"/>
        </a:accent4>
        <a:accent5>
          <a:srgbClr val="C6C69F"/>
        </a:accent5>
        <a:accent6>
          <a:srgbClr val="E6E67F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8F7F4F"/>
        </a:accent3>
        <a:accent4>
          <a:srgbClr val="6F9F6F"/>
        </a:accent4>
        <a:accent5>
          <a:srgbClr val="4FBF8F"/>
        </a:accent5>
        <a:accent6>
          <a:srgbClr val="2FDFAF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0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1086</Words>
  <Application>Microsoft Office PowerPoint</Application>
  <PresentationFormat>Widescreen</PresentationFormat>
  <Paragraphs>173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SimSun</vt:lpstr>
      <vt:lpstr>Calibri</vt:lpstr>
      <vt:lpstr>Times New Roman</vt:lpstr>
      <vt:lpstr>Presentation</vt:lpstr>
      <vt:lpstr>Paint.Picture</vt:lpstr>
      <vt:lpstr>AI PyTorch</vt:lpstr>
      <vt:lpstr>Folders</vt:lpstr>
      <vt:lpstr>Why PyTorch vs Tensorflow/Jax?</vt:lpstr>
      <vt:lpstr>Installing PyTorch &amp; CUDA: https://pytorch.org/get-started/locally/</vt:lpstr>
      <vt:lpstr>Conda install</vt:lpstr>
      <vt:lpstr>Computer PyTorch installs</vt:lpstr>
      <vt:lpstr>Books and what they cover</vt:lpstr>
      <vt:lpstr>Dynamic Computation Graph</vt:lpstr>
      <vt:lpstr>Inherit from nn.Module to create Neural Net</vt:lpstr>
      <vt:lpstr>TorchVision</vt:lpstr>
      <vt:lpstr>TorchAudio</vt:lpstr>
      <vt:lpstr>CNN = Convolutional Neural Net</vt:lpstr>
      <vt:lpstr>ReLU function Rectified Linear Unit</vt:lpstr>
      <vt:lpstr>Fully connected layers at end for classification or regression tasks</vt:lpstr>
      <vt:lpstr>Object Detection models recognize multiple objects in same image</vt:lpstr>
      <vt:lpstr>Image Recognition Models that only  recognize the entire image at once</vt:lpstr>
      <vt:lpstr>Object Recognition Models Output</vt:lpstr>
      <vt:lpstr>Object Detection on Edge devices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PyTorch</dc:title>
  <dc:subject/>
  <dc:creator/>
  <cp:keywords/>
  <dc:description/>
  <cp:lastModifiedBy>guy</cp:lastModifiedBy>
  <cp:revision>20</cp:revision>
  <dcterms:created xsi:type="dcterms:W3CDTF">2025-11-27T05:42:01Z</dcterms:created>
  <dcterms:modified xsi:type="dcterms:W3CDTF">2025-12-30T00:46:33Z</dcterms:modified>
</cp:coreProperties>
</file>