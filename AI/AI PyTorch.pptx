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svg" ContentType="image/svg+xml"/>
  <Default Extension="webp" ContentType="image/webp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dMasterIdLst>
    <p:sldMasterId id="2147483648" r:id="rId5"/>
  </p:sldMasterIdLst>
  <p:sldIdLst>
    <p:sldId id="256" r:id="rId6"/>
    <p:sldId id="259" r:id="rId7"/>
    <p:sldId id="261" r:id="rId8"/>
    <p:sldId id="260" r:id="rId9"/>
    <p:sldId id="258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x="12192000" cy="6858000"/>
  <p:notesSz cx="6858000" cy="12192000"/>
  <p:defaultTextStyle>
    <a:lvl1pPr marL="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1pPr>
    <a:lvl2pPr marL="457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2pPr>
    <a:lvl3pPr marL="914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3pPr>
    <a:lvl4pPr marL="1371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4pPr>
    <a:lvl5pPr marL="18288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5pPr>
    <a:lvl6pPr marL="22860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6pPr>
    <a:lvl7pPr marL="2743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7pPr>
    <a:lvl8pPr marL="3200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8pPr>
    <a:lvl9pPr marL="3657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9pPr>
  </p:defaultTextStyle>
</p:presentation>
</file>

<file path=ppt/presProps.xml><?xml version="1.0" encoding="utf-8"?>
<p:presentation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howPr showNarration="1"/>
  <p:extLst>
    <p:ext uri="smNativeData">
      <pr:smAppRevision xmlns:pr="smNativeData" xmlns="smNativeData" dt="1766203465" val="1228" revOS="4"/>
      <pr:smFileRevision xmlns:pr="smNativeData" xmlns="smNativeData" dt="1766203465" val="101"/>
      <pr:guideOptions xmlns:pr="smNativeData" xmlns="smNativeData" dt="1766203465" snapToGrid="1" snapToBorders="1" snapToGuide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ideViewPr>
    <p:cSldViewPr snapToObjects="1" showGuides="1">
      <p:cViewPr varScale="1">
        <p:scale>
          <a:sx n="70" d="100"/>
          <a:sy n="70" d="100"/>
        </p:scale>
        <p:origin x="384" y="555"/>
      </p:cViewPr>
      <p:guideLst x="0" y="0"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sorterViewPr>
    <p:cViewPr>
      <p:scale>
        <a:sx n="15" d="100"/>
        <a:sy n="15" d="100"/>
      </p:scale>
      <p:origin x="0" y="0"/>
    </p:cViewPr>
  </p:sorterViewPr>
  <p:notesViewPr>
    <p:cSldViewPr snapToObjects="1" showGuides="1">
      <p:cViewPr>
        <p:scale>
          <a:sx n="70" d="100"/>
          <a:sy n="70" d="100"/>
        </p:scale>
        <p:origin x="384" y="555"/>
      </p:cViewPr>
    </p:cSldViewPr>
  </p:notesViewPr>
  <p:gridSpacing cx="73477120" cy="73477120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/Relationship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xYQA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EAAAAAAAAA"/>
              </a:ext>
            </a:extLst>
          </p:cNvSpPr>
          <p:nvPr>
            <p:ph type="ctrTitle"/>
          </p:nvPr>
        </p:nvSpPr>
        <p:spPr>
          <a:xfrm>
            <a:off x="914400" y="2129790"/>
            <a:ext cx="10363200" cy="1470660"/>
          </a:xfrm>
        </p:spPr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GAAAAAAAAA"/>
              </a:ext>
            </a:extLst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pPr/>
            <a:r>
              <a:t>Click to edit Master subtitle style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CyUx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1B0EEA78-36F6-5B1C-B8B6-C049A4F84E95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1B0EE631-7FF6-5B10-B8B6-8945A8F84EDC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Q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MDcrw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1B0EE77A-34F6-5B11-B8B6-C244A9F84E97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1B0EAF58-16F6-5B59-B8B6-E00CE1F84EB5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BwbAACtRQAAfSMAABAAAAAmAAAACAAAAIGQAAAAAAAA"/>
              </a:ext>
            </a:extLst>
          </p:cNvSpPr>
          <p:nvPr>
            <p:ph type="title"/>
          </p:nvPr>
        </p:nvSpPr>
        <p:spPr>
          <a:xfrm>
            <a:off x="963295" y="4406900"/>
            <a:ext cx="10363200" cy="1362075"/>
          </a:xfr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l">
              <a:defRPr sz="4000" b="1" cap="all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aoy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OERAACtRQAAHBsAABAAAAAmAAAACAAAAIGQAAAAAAAA"/>
              </a:ext>
            </a:extLst>
          </p:cNvSpPr>
          <p:nvPr>
            <p:ph idx="1"/>
          </p:nvPr>
        </p:nvSpPr>
        <p:spPr>
          <a:xfrm>
            <a:off x="963295" y="2906395"/>
            <a:ext cx="10363200" cy="1500505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000" cap="none"/>
            </a:lvl1pPr>
            <a:lvl2pPr marL="457200" indent="0">
              <a:buNone/>
              <a:defRPr sz="1800" cap="none"/>
            </a:lvl2pPr>
            <a:lvl3pPr marL="914400" indent="0">
              <a:buNone/>
              <a:defRPr sz="1600" cap="none"/>
            </a:lvl3pPr>
            <a:lvl4pPr marL="1371600" indent="0">
              <a:buNone/>
              <a:defRPr sz="1400" cap="none"/>
            </a:lvl4pPr>
            <a:lvl5pPr marL="1828800" indent="0">
              <a:buNone/>
              <a:defRPr sz="1400" cap="none"/>
            </a:lvl5pPr>
            <a:lvl6pPr marL="2286000" indent="0">
              <a:buNone/>
              <a:defRPr sz="1400" cap="none"/>
            </a:lvl6pPr>
            <a:lvl7pPr marL="2743200" indent="0">
              <a:buNone/>
              <a:defRPr sz="1400" cap="none"/>
            </a:lvl7pPr>
            <a:lvl8pPr marL="3200400" indent="0">
              <a:buNone/>
              <a:defRPr sz="1400" cap="none"/>
            </a:lvl8pPr>
            <a:lvl9pPr marL="3657600" indent="0">
              <a:buNone/>
              <a:defRPr sz="14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CE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1B0E8767-29F6-5B71-B8B6-DF24C9F84E8A}" type="datetime1">
              <a:t>12/16/2025</a:t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AoWA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1B0EADFD-B3F6-5B5B-B8B6-450EE3F84E10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ColTx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gG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DhJAAAsCUAABAAAAAmAAAACAAAAAGAAAAAAAAA"/>
              </a:ext>
            </a:extLst>
          </p:cNvSpPr>
          <p:nvPr>
            <p:ph idx="1"/>
          </p:nvPr>
        </p:nvSpPr>
        <p:spPr>
          <a:xfrm>
            <a:off x="609600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hUx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yYAANgJAABARwAAsCUAABAAAAAmAAAACAAAAAGAAAAAAAAA"/>
              </a:ext>
            </a:extLst>
          </p:cNvSpPr>
          <p:nvPr>
            <p:ph idx="2"/>
          </p:nvPr>
        </p:nvSpPr>
        <p:spPr>
          <a:xfrm>
            <a:off x="6196965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1B0EB58D-C3F6-5B43-B8B6-3516FBF84E60}" type="datetime1">
              <a:t>12/16/2025</a:t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1B0E94F4-BAF6-5B62-B8B6-4C37DAF84E19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5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3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HEJAADjJAAAYQ0AABAAAAAmAAAACAAAAIGQAAAAAAAA"/>
              </a:ext>
            </a:extLst>
          </p:cNvSpPr>
          <p:nvPr>
            <p:ph idx="1"/>
          </p:nvPr>
        </p:nvSpPr>
        <p:spPr>
          <a:xfrm>
            <a:off x="609600" y="1534795"/>
            <a:ext cx="5386705" cy="64008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GENAADjJAAAsCUAABAAAAAmAAAACAAAAAGAAAAAAAAA"/>
              </a:ext>
            </a:extLst>
          </p:cNvSpPr>
          <p:nvPr>
            <p:ph idx="2"/>
          </p:nvPr>
        </p:nvSpPr>
        <p:spPr>
          <a:xfrm>
            <a:off x="609600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SlideText2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HEJAABARwAAYQ0AABAAAAAmAAAACAAAAIGQAAAAAAAA"/>
              </a:ext>
            </a:extLst>
          </p:cNvSpPr>
          <p:nvPr>
            <p:ph idx="3"/>
          </p:nvPr>
        </p:nvSpPr>
        <p:spPr>
          <a:xfrm>
            <a:off x="6195695" y="1534795"/>
            <a:ext cx="5386705" cy="64008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6" name="SlideText4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/J8f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GENAABARwAAsCUAABAAAAAmAAAACAAAAAGAAAAAAAAA"/>
              </a:ext>
            </a:extLst>
          </p:cNvSpPr>
          <p:nvPr>
            <p:ph idx="4"/>
          </p:nvPr>
        </p:nvSpPr>
        <p:spPr>
          <a:xfrm>
            <a:off x="6195695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Time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1B0E8243-0DF6-5B74-B8B6-FB21CCF84EAE}" type="datetime1">
              <a:t>12/16/2025</a:t>
            </a:fld>
          </a:p>
        </p:txBody>
      </p:sp>
      <p:sp>
        <p:nvSpPr>
          <p:cNvPr id="8" name="Foot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9" name="SlideNumb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Durg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1B0ED02F-61F6-5B26-B8B6-97739EF84EC2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6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DateTime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LC8B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1B0EB713-5DF6-5B41-B8B6-AB14F9F84EFE}" type="datetime1">
              <a:t>12/16/2025</a:t>
            </a:fld>
          </a:p>
        </p:txBody>
      </p:sp>
      <p:sp>
        <p:nvSpPr>
          <p:cNvPr id="4" name="Foot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/J8f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SlideNumb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1B0E939D-D3F6-5B65-B8B6-2530DDF84E70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7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Time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1B0ECF0B-45F6-5B39-B8B6-B36C81F84EE6}" type="datetime1">
              <a:t>12/16/2025</a:t>
            </a:fld>
          </a:p>
        </p:txBody>
      </p:sp>
      <p:sp>
        <p:nvSpPr>
          <p:cNvPr id="3" name="Foot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4" name="SlideNumb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1B0ED143-0DF6-5B27-B8B6-FB729FF84EAE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8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kAZ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K4BAABtHAAA1AgAABAAAAAmAAAACAAAAIGQAAAAAAAA"/>
              </a:ext>
            </a:extLst>
          </p:cNvSpPr>
          <p:nvPr>
            <p:ph type="title"/>
          </p:nvPr>
        </p:nvSpPr>
        <p:spPr>
          <a:xfrm>
            <a:off x="609600" y="273050"/>
            <a:ext cx="4011295" cy="116205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Ux0AAK4BAABARwAAsCUAABAAAAAmAAAACAAAAAGAAAAAAAAA"/>
              </a:ext>
            </a:extLst>
          </p:cNvSpPr>
          <p:nvPr>
            <p:ph idx="1"/>
          </p:nvPr>
        </p:nvSpPr>
        <p:spPr>
          <a:xfrm>
            <a:off x="4766945" y="273050"/>
            <a:ext cx="6815455" cy="5853430"/>
          </a:xfrm>
        </p:spPr>
        <p:txBody>
          <a:bodyPr/>
          <a:lstStyle>
            <a:lvl1pPr>
              <a:defRPr sz="3200" cap="none"/>
            </a:lvl1pPr>
            <a:lvl2pPr>
              <a:defRPr sz="2800" cap="none"/>
            </a:lvl2pPr>
            <a:lvl3pPr>
              <a:defRPr sz="2400" cap="none"/>
            </a:lvl3pPr>
            <a:lvl4pPr>
              <a:defRPr sz="2000" cap="none"/>
            </a:lvl4pPr>
            <a:lvl5pPr>
              <a:defRPr sz="2000" cap="none"/>
            </a:lvl5pPr>
            <a:lvl6pPr>
              <a:defRPr sz="2000" cap="none"/>
            </a:lvl6pPr>
            <a:lvl7pPr>
              <a:defRPr sz="2000" cap="none"/>
            </a:lvl7pPr>
            <a:lvl8pPr>
              <a:defRPr sz="2000" cap="none"/>
            </a:lvl8pPr>
            <a:lvl9pPr>
              <a:defRPr sz="20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QIAABtHAAAsCUAABAAAAAmAAAACAAAAAGAAAAAAAAA"/>
              </a:ext>
            </a:extLst>
          </p:cNvSpPr>
          <p:nvPr>
            <p:ph idx="2"/>
          </p:nvPr>
        </p:nvSpPr>
        <p:spPr>
          <a:xfrm>
            <a:off x="609600" y="1435100"/>
            <a:ext cx="4011295" cy="46913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1B0EB426-68F6-5B42-B8B6-9E17FAF84ECB}" type="datetime1">
              <a:t>12/16/2025</a:t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1B0EE919-57F6-5B1F-B8B6-A14AA7F84EF4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9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IgdAACzOwAABCEAABAAAAAmAAAACAAAAIGQAAAAAAAA"/>
              </a:ext>
            </a:extLst>
          </p:cNvSpPr>
          <p:nvPr>
            <p:ph type="title"/>
          </p:nvPr>
        </p:nvSpPr>
        <p:spPr>
          <a:xfrm>
            <a:off x="2389505" y="4800600"/>
            <a:ext cx="7315200" cy="56642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MYDAACzOwAAFh0AABAAAAAmAAAACAAAAAGAAAAAAAAA"/>
              </a:ext>
            </a:extLst>
          </p:cNvSpPr>
          <p:nvPr>
            <p:ph idx="1"/>
          </p:nvPr>
        </p:nvSpPr>
        <p:spPr>
          <a:xfrm>
            <a:off x="2389505" y="613410"/>
            <a:ext cx="7315200" cy="4114800"/>
          </a:xfrm>
        </p:spPr>
        <p:txBody>
          <a:bodyPr/>
          <a:lstStyle>
            <a:lvl1pPr marL="0" indent="0">
              <a:buNone/>
              <a:defRPr sz="3200" cap="none"/>
            </a:lvl1pPr>
            <a:lvl2pPr marL="457200" indent="0">
              <a:buNone/>
              <a:defRPr sz="2800" cap="none"/>
            </a:lvl2pPr>
            <a:lvl3pPr marL="914400" indent="0">
              <a:buNone/>
              <a:defRPr sz="2400" cap="none"/>
            </a:lvl3pPr>
            <a:lvl4pPr marL="1371600" indent="0">
              <a:buNone/>
              <a:defRPr sz="2000" cap="none"/>
            </a:lvl4pPr>
            <a:lvl5pPr marL="1828800" indent="0">
              <a:buNone/>
              <a:defRPr sz="2000" cap="none"/>
            </a:lvl5pPr>
            <a:lvl6pPr marL="2286000" indent="0">
              <a:buNone/>
              <a:defRPr sz="2000" cap="none"/>
            </a:lvl6pPr>
            <a:lvl7pPr marL="2743200" indent="0">
              <a:buNone/>
              <a:defRPr sz="2000" cap="none"/>
            </a:lvl7pPr>
            <a:lvl8pPr marL="3200400" indent="0">
              <a:buNone/>
              <a:defRPr sz="2000" cap="none"/>
            </a:lvl8pPr>
            <a:lvl9pPr marL="3657600" indent="0">
              <a:buNone/>
              <a:defRPr sz="20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AQhAACzOwAA+CUAABAAAAAmAAAACAAAAAGAAAAAAAAA"/>
              </a:ext>
            </a:extLst>
          </p:cNvSpPr>
          <p:nvPr>
            <p:ph idx="2"/>
          </p:nvPr>
        </p:nvSpPr>
        <p:spPr>
          <a:xfrm>
            <a:off x="2389505" y="5367020"/>
            <a:ext cx="7315200" cy="8051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1B0EFF5E-10F6-5B09-B8B6-E65CB1F84EB3}" type="datetime1">
              <a:t>12/16/2025</a:t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1B0EF3A0-EEF6-5B05-B8B6-1850BDF84E4D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10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IQAAAAAAAA"/>
              </a:ext>
            </a:extLst>
          </p:cNvSpPr>
          <p:nvPr>
            <p:ph idx="1"/>
          </p:nvPr>
        </p:nvSpPr>
        <p:spPr/>
        <p:txBody>
          <a:bodyPr vert="vert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1B0EDA13-5DF6-5B2C-B8B6-AB7994F84EFE}" type="datetime1">
              <a:t>12/16/2025</a:t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1B0E93E5-ABF6-5B65-B8B6-5D30DDF84E08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1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C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DYAALABAABARwAAsCUAABAAAAAmAAAACAAAAIMQAAAAAAAA"/>
              </a:ext>
            </a:extLst>
          </p:cNvSpPr>
          <p:nvPr>
            <p:ph type="title"/>
          </p:nvPr>
        </p:nvSpPr>
        <p:spPr>
          <a:xfrm>
            <a:off x="8839200" y="274320"/>
            <a:ext cx="2743200" cy="5852160"/>
          </a:xfrm>
        </p:spPr>
        <p:txBody>
          <a:bodyPr vert="vert" wrap="square" lIns="91440" tIns="45720" rIns="91440" bIns="45720" numCol="1" spcCol="215900" anchor="b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AfNQAAsCUAABAAAAAmAAAACAAAAAMQAAAAAAAA"/>
              </a:ext>
            </a:extLst>
          </p:cNvSpPr>
          <p:nvPr>
            <p:ph idx="1"/>
          </p:nvPr>
        </p:nvSpPr>
        <p:spPr>
          <a:xfrm>
            <a:off x="609600" y="274320"/>
            <a:ext cx="8025765" cy="5852160"/>
          </a:xfrm>
        </p:spPr>
        <p:txBody>
          <a:bodyPr vert="vert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1B0E85ED-A3F6-5B73-B8B6-5526CBF84E00}" type="datetime1">
              <a:t>12/16/2025</a:t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1B0EA52F-61F6-5B53-B8B6-9706EBF84EC2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 name="Default desig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IMfAAD//8EB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IMfAAD//8EB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1hc3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IOfAAD//8EB"/>
              </a:ext>
            </a:extLst>
          </p:cNvSpPr>
          <p:nvPr>
            <p:ph type="dt" sz="quarter" idx="2"/>
          </p:nvPr>
        </p:nvSpPr>
        <p:spPr>
          <a:xfrm>
            <a:off x="609600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pPr/>
            <a:fld id="{1B0EDD63-2DF6-5B2B-B8B6-DB7E93F84E8E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1hc3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IOfAAD//8EB"/>
              </a:ext>
            </a:extLst>
          </p:cNvSpPr>
          <p:nvPr>
            <p:ph type="ftr" sz="quarter" idx="3"/>
          </p:nvPr>
        </p:nvSpPr>
        <p:spPr>
          <a:xfrm>
            <a:off x="4166235" y="6356985"/>
            <a:ext cx="3859530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ctr">
              <a:defRPr sz="1200" cap="none"/>
            </a:lvl1pPr>
          </a:lstStyle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FBQU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IOfAAD//8EB"/>
              </a:ext>
            </a:extLst>
          </p:cNvSpPr>
          <p:nvPr>
            <p:ph type="sldNum" sz="quarter" idx="4"/>
          </p:nvPr>
        </p:nvSpPr>
        <p:spPr>
          <a:xfrm>
            <a:off x="8738235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pPr/>
            <a:fld id="{1B0EB6DE-90F6-5B40-B8B6-6615F8F84E33}" type="slidenum">
              <a:t/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marR="0" indent="0" algn="ctr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4400" b="0" i="0" u="none" strike="noStrike" kern="1" cap="none" spc="0" baseline="0">
          <a:solidFill>
            <a:schemeClr val="tx2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titleStyle>
    <p:bodyStyle>
      <a:lvl1pPr marL="342900" marR="0" indent="-3429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32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742950" marR="0" indent="-28575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1143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4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600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20574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»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5146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9718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429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886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bodyStyle>
    <p:otherStyle>
      <a:lvl1pPr marL="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webp"/></Relationships>
</file>

<file path=ppt/slides/_rels/slide1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AAAAAAAAAA"/>
              </a:ext>
            </a:extLst>
          </p:cNvSpPr>
          <p:nvPr>
            <p:ph type="ctrTitle"/>
          </p:nvPr>
        </p:nvSpPr>
        <p:spPr/>
        <p:txBody>
          <a:bodyPr/>
          <a:lstStyle/>
          <a:p>
            <a:pPr/>
            <a:r>
              <a:t>AI PyTorch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AAAAAAAAAA"/>
              </a:ext>
            </a:extLst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Why PyTorch vs Tensorflow/Jax?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600" cap="none"/>
            </a:pPr>
            <a:r>
              <a:t>PyTorch used much more in Research / Academia</a:t>
            </a:r>
          </a:p>
          <a:p>
            <a:pPr>
              <a:defRPr sz="2600" cap="none"/>
            </a:pPr>
            <a:r>
              <a:t>PyTorch has dynamic computation graphs</a:t>
            </a:r>
          </a:p>
          <a:p>
            <a:pPr>
              <a:defRPr sz="2600" cap="none"/>
            </a:pPr>
            <a:r>
              <a:t>PyTorch easier to tweak things once you get past the basics</a:t>
            </a:r>
          </a:p>
          <a:p>
            <a:pPr>
              <a:defRPr sz="2600" cap="none"/>
            </a:pPr>
            <a:r>
              <a:t>PyTorch easier to debug</a:t>
            </a:r>
          </a:p>
          <a:p>
            <a:pPr>
              <a:defRPr sz="2600" cap="none"/>
            </a:pPr>
            <a:r>
              <a:t>Why Tensorflow / Jax?</a:t>
            </a:r>
          </a:p>
          <a:p>
            <a:pPr lvl="1">
              <a:defRPr sz="2200" cap="none"/>
            </a:pPr>
            <a:r>
              <a:t>Easier to get started (but harder to tweek afterward)</a:t>
            </a:r>
          </a:p>
          <a:p>
            <a:pPr lvl="1">
              <a:defRPr sz="2200" cap="none"/>
            </a:pPr>
            <a:r>
              <a:t>Jax (also Google) might be taking over from Tensorflow - but not for beginners</a:t>
            </a:r>
          </a:p>
          <a:p>
            <a:pPr lvl="2">
              <a:defRPr sz="1800" cap="none"/>
            </a:pPr>
            <a:r>
              <a:t>Numpy-like syntax </a:t>
            </a:r>
          </a:p>
          <a:p>
            <a:pPr lvl="1">
              <a:defRPr sz="2200" cap="none"/>
            </a:pPr>
            <a:r>
              <a:t>Jax is faster - sometimes 4-5x</a:t>
            </a:r>
          </a:p>
          <a:p>
            <a:pPr lvl="2">
              <a:defRPr sz="1800" cap="none"/>
            </a:pPr>
            <a:r>
              <a:t>Just in time compilation</a:t>
            </a:r>
          </a:p>
          <a:p>
            <a:pPr lvl="2">
              <a:defRPr sz="1800" cap="none"/>
            </a:pPr>
            <a:r>
              <a:t>Accelerated Linear Algebra</a:t>
            </a:r>
          </a:p>
          <a:p>
            <a:pPr lvl="1"/>
            <a:r>
              <a:rPr sz="2200" cap="none"/>
              <a:t>‘J’ is just-in-time compilation, ‘A’ is Automatic Differentiation/Derivative, ‘X’ - Xcelerated Linear Algebra</a:t>
            </a:r>
            <a:endParaRPr sz="22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Conda install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Prefer using ‘conda install’ over ’pip install’, like:</a:t>
            </a:r>
          </a:p>
          <a:p>
            <a:pPr lvl="1"/>
            <a:r>
              <a:t>conda install pytorch torchvision torchaudio cudatoolkit=10.2 -c</a:t>
            </a:r>
          </a:p>
          <a:p>
            <a:pPr lvl="1"/>
            <a:r>
              <a:t>conda install -c conda-forge tensorboard</a:t>
            </a:r>
          </a:p>
          <a:p>
            <a:pPr lvl="2"/>
            <a:r>
              <a:t>*tensorboard was made for tensorflow BUT can be used w/PyTorch</a:t>
            </a:r>
          </a:p>
          <a:p>
            <a:pPr lvl="1"/>
            <a:r>
              <a:t>pip install torchviz</a:t>
            </a:r>
          </a:p>
          <a:p>
            <a:pPr lvl="2"/>
            <a:r>
              <a:t>*sometimes conda install option not available.</a:t>
            </a:r>
          </a:p>
          <a:p>
            <a:pPr lvl="2"/>
            <a:r>
              <a:t>*Torchviz requires GraphViz to be installed first.</a:t>
            </a:r>
          </a:p>
          <a:p>
            <a:pPr/>
            <a:r>
              <a:t>Often need to create environment (like PyTorchStepByStep):</a:t>
            </a:r>
          </a:p>
          <a:p>
            <a:pPr lvl="1"/>
            <a:r>
              <a:t>conda env create -f environment.yaml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Computer PyTorch installs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main Win10 Ryzen5 7600X3D 4100Mhz 64gb RTX3060 12gb:</a:t>
            </a:r>
          </a:p>
          <a:p>
            <a:pPr lvl="1"/>
            <a:r>
              <a:t>Has Python 3.9 PyTorch that works in Visual Studio</a:t>
            </a:r>
          </a:p>
          <a:p>
            <a:pPr/>
            <a:r>
              <a:t>Ubuntu Ryzen 5 5500 2400Mhz 32gb RTX4060Ti 16gb:</a:t>
            </a:r>
          </a:p>
          <a:p>
            <a:pPr lvl="1">
              <a:defRPr sz="2000" cap="none"/>
            </a:pPr>
            <a:r>
              <a:t>Visual Studio Code will run the conda environments including:</a:t>
            </a:r>
          </a:p>
          <a:p>
            <a:pPr lvl="2">
              <a:defRPr sz="1600" cap="none"/>
            </a:pPr>
            <a:r>
              <a:t>ldm</a:t>
            </a:r>
          </a:p>
          <a:p>
            <a:pPr lvl="2">
              <a:defRPr sz="1600" cap="none"/>
            </a:pPr>
            <a:r>
              <a:t>pytorchbook</a:t>
            </a:r>
          </a:p>
          <a:p>
            <a:pPr lvl="1">
              <a:defRPr sz="2000" cap="none"/>
            </a:pPr>
            <a:r>
              <a:t>*But how to debug on Linux?!?</a:t>
            </a:r>
          </a:p>
          <a:p>
            <a:pPr lvl="1">
              <a:defRPr sz="2000" cap="none"/>
            </a:pPr>
            <a:r>
              <a:t>The pytorch jupyter notebooks seem to work well with it.</a:t>
            </a:r>
          </a:p>
          <a:p>
            <a:pPr lvl="1"/>
            <a:r>
              <a:rPr sz="2000" cap="none"/>
              <a:t>Probably better to ‘conda pytorchnotebook’ and then ‘code’ to get into Visual Studio Code</a:t>
            </a:r>
            <a:endParaRPr sz="2000" cap="none"/>
          </a:p>
          <a:p>
            <a:pPr/>
            <a:r>
              <a:t>Laptop Win11 i5-134020H 2100Mhz 16gb RTX4050 6gb:</a:t>
            </a:r>
          </a:p>
          <a:p>
            <a:pPr lvl="1"/>
            <a:r>
              <a:t>Has Python 3.9 PyTorch that works in Visual Studio</a:t>
            </a:r>
          </a:p>
          <a:p>
            <a:pPr/>
            <a:r>
              <a:t>Gaming Win11 Ryzen9 7900X(12c) 32gb RTX5070 12gb</a:t>
            </a:r>
          </a:p>
          <a:p>
            <a:pPr/>
            <a:r>
              <a:t>Mac Mini 16GB: PyTorch is possible but slow</a:t>
            </a:r>
          </a:p>
          <a:p>
            <a:pPr lvl="1"/>
          </a:p>
          <a:p>
            <a:pPr lvl="1"/>
          </a:p>
          <a:p>
            <a:pPr lvl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Books and what they cover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I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400" cap="none"/>
            </a:pPr>
            <a:r>
              <a:t>Deep Learning with PyTorch step-by-step :</a:t>
            </a:r>
          </a:p>
          <a:p>
            <a:pPr lvl="1">
              <a:defRPr sz="2000" cap="none"/>
            </a:pPr>
            <a:r>
              <a:t>Daniel Voigt Godoy, 2024 v1.2, PyTorch</a:t>
            </a:r>
          </a:p>
          <a:p>
            <a:pPr lvl="1">
              <a:defRPr sz="2000" cap="none"/>
            </a:pPr>
            <a:r>
              <a:t>Have paperback &amp; Kindle version. There is Volume II and III, though, I don’t have.</a:t>
            </a:r>
          </a:p>
          <a:p>
            <a:pPr lvl="1">
              <a:defRPr sz="2000" cap="none"/>
            </a:pPr>
            <a:r>
              <a:t>\git\PyTorchStepByStep</a:t>
            </a:r>
          </a:p>
          <a:p>
            <a:pPr>
              <a:defRPr sz="2400" cap="none"/>
            </a:pPr>
            <a:r>
              <a:t>Deep Learning with PyTorch:</a:t>
            </a:r>
          </a:p>
          <a:p>
            <a:pPr lvl="1">
              <a:defRPr sz="2000" cap="none"/>
            </a:pPr>
            <a:r>
              <a:t>Stevens / Antiga / Viehmann, 2020, PyTorch</a:t>
            </a:r>
          </a:p>
          <a:p>
            <a:pPr lvl="1">
              <a:defRPr sz="2000" cap="none"/>
            </a:pPr>
            <a:r>
              <a:t>\git\dlwpt-code</a:t>
            </a:r>
          </a:p>
          <a:p>
            <a:pPr lvl="1">
              <a:defRPr sz="2000" cap="none"/>
            </a:pPr>
            <a:r>
              <a:t>Have paperback.</a:t>
            </a:r>
          </a:p>
          <a:p>
            <a:pPr>
              <a:defRPr sz="2400" cap="none"/>
            </a:pPr>
            <a:r>
              <a:t>Deep Learning for Dummies 2019:</a:t>
            </a:r>
          </a:p>
          <a:p>
            <a:pPr lvl="1">
              <a:defRPr sz="2000" cap="none"/>
            </a:pPr>
            <a:r>
              <a:t>Tensorflow &amp; Keras</a:t>
            </a:r>
          </a:p>
          <a:p>
            <a:pPr lvl="1">
              <a:defRPr sz="2000" cap="none"/>
            </a:pPr>
            <a:r>
              <a:t>\git\dl4dummies</a:t>
            </a:r>
          </a:p>
          <a:p>
            <a:pPr>
              <a:defRPr sz="2400" cap="none"/>
            </a:pPr>
            <a:r>
              <a:t>Deep Learning with Python 2018:</a:t>
            </a:r>
          </a:p>
          <a:p>
            <a:pPr lvl="1">
              <a:defRPr sz="2000" cap="none"/>
            </a:pPr>
            <a:r>
              <a:t>Tensorflow &amp; Keras</a:t>
            </a:r>
          </a:p>
          <a:p>
            <a:pPr lvl="1"/>
            <a:r>
              <a:rPr sz="2000" cap="none"/>
              <a:t>\git\deep-learning-with-python-notebooks</a:t>
            </a:r>
            <a:endParaRPr sz="2400" cap="none"/>
          </a:p>
          <a:p>
            <a:pPr/>
            <a:endParaRPr sz="2400" cap="none"/>
          </a:p>
          <a:p>
            <a:pPr/>
            <a:endParaRPr sz="24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Dynamic Computation Graph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DAG (Directed Acyclic Graph) of operations</a:t>
            </a:r>
          </a:p>
          <a:p>
            <a:pPr lvl="1"/>
            <a:r>
              <a:t>Allows models to optimized at run-time:</a:t>
            </a:r>
          </a:p>
          <a:p>
            <a:pPr lvl="2"/>
            <a:r>
              <a:t>Can change shape/size and operations after each iteration if needed</a:t>
            </a:r>
          </a:p>
          <a:p>
            <a:pPr lvl="1"/>
          </a:p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Inherit from nn.Module to create Neural Net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class MyNet(nn.Module):</a:t>
            </a:r>
          </a:p>
          <a:p>
            <a:pPr lvl="1"/>
            <a:r>
              <a:t>def __init__(self):</a:t>
            </a:r>
          </a:p>
          <a:p>
            <a:pPr lvl="2"/>
            <a:r>
              <a:t># Init the neural network</a:t>
            </a:r>
          </a:p>
          <a:p>
            <a:pPr lvl="2"/>
            <a:r>
              <a:t>super.__init__()</a:t>
            </a:r>
          </a:p>
          <a:p>
            <a:pPr lvl="2"/>
            <a:r>
              <a:t># Flatten data, such as 28x28 image to linear array/tensor.</a:t>
            </a:r>
          </a:p>
          <a:p>
            <a:pPr lvl="2"/>
            <a:r>
              <a:t>self.flatten = nn.Flatten()</a:t>
            </a:r>
          </a:p>
          <a:p>
            <a:pPr lvl="2"/>
            <a:r>
              <a:t># Add layers as needed:</a:t>
            </a:r>
          </a:p>
          <a:p>
            <a:pPr lvl="2"/>
            <a:r>
              <a:t>self.linear_relu_stack = nn.Sequential(</a:t>
            </a:r>
          </a:p>
          <a:p>
            <a:pPr lvl="3"/>
            <a:r>
              <a:t>nn.Linear(28*28, 512),</a:t>
            </a:r>
          </a:p>
          <a:p>
            <a:pPr lvl="3"/>
            <a:r>
              <a:t>nn.ReLU(), # Linear activation function outputs node or zero if not important.</a:t>
            </a:r>
          </a:p>
          <a:p>
            <a:pPr lvl="3"/>
            <a:r>
              <a:t>nn.Linear(512,512),</a:t>
            </a:r>
          </a:p>
          <a:p>
            <a:pPr lvl="3"/>
            <a:r>
              <a:t>nn.Linear(512,10)) # Output the 10 labels the model is trying to predict.</a:t>
            </a:r>
          </a:p>
          <a:p>
            <a:pPr lvl="2"/>
          </a:p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cap="none"/>
              <a:t>TorchVision</a:t>
            </a:r>
            <a:endParaRPr lang="en-us" cap="none"/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chI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1398270"/>
          </a:xfrm>
        </p:spPr>
        <p:txBody>
          <a:bodyPr/>
          <a:lstStyle/>
          <a:p>
            <a:pPr/>
            <a:r>
              <a:rPr lang="en-us" cap="none"/>
              <a:t>Transforms / datasets / models for computer vision</a:t>
            </a:r>
            <a:endParaRPr lang="en-us" cap="none"/>
          </a:p>
          <a:p>
            <a:pPr/>
            <a:r>
              <a:rPr lang="en-us" cap="none"/>
              <a:t>Models such as:</a:t>
            </a:r>
            <a:endParaRPr lang="en-us" cap="none"/>
          </a:p>
          <a:p>
            <a:pPr lvl="1"/>
            <a:r>
              <a:rPr lang="en-us" cap="none"/>
              <a:t>resnet18: convolutional NN that is 18 layers deep</a:t>
            </a:r>
            <a:endParaRPr lang="en-us" cap="none"/>
          </a:p>
          <a:p>
            <a:pPr lvl="1"/>
            <a:r>
              <a:rPr lang="en-us" cap="none"/>
              <a:t>resnet50, resnet101, etc.</a:t>
            </a:r>
            <a:endParaRPr lang="en-us" cap="none"/>
          </a:p>
          <a:p>
            <a:pPr lvl="1"/>
            <a:r>
              <a:rPr lang="en-us" cap="none"/>
              <a:t>EfficientNet?</a:t>
            </a:r>
            <a:endParaRPr lang="en-us" cap="none"/>
          </a:p>
          <a:p>
            <a:pPr lvl="1"/>
            <a:r>
              <a:rPr lang="en-us" cap="none"/>
              <a:t>Swin Transformers?</a:t>
            </a:r>
            <a:endParaRPr lang="en-us" cap="none"/>
          </a:p>
          <a:p>
            <a:pPr lvl="1"/>
            <a:endParaRPr lang="en-us" cap="none"/>
          </a:p>
          <a:p>
            <a:pPr marL="0" indent="0">
              <a:buNone/>
            </a:pPr>
            <a:endParaRPr lang="en-us" cap="none"/>
          </a:p>
          <a:p>
            <a:pPr marL="0" indent="0">
              <a:buNone/>
            </a:pPr>
            <a:endParaRPr lang="en-us" cap="none"/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1B0EF0A2-ECF6-5B06-B8B6-1A53BEF84E4F}" type="datetime1">
              <a:rPr lang="en-us" cap="none"/>
              <a:t>12/19/2025</a:t>
            </a:fld>
            <a:endParaRPr lang="en-us" cap="none"/>
          </a:p>
        </p:txBody>
      </p:sp>
      <p:sp>
        <p:nvSpPr>
          <p:cNvPr id="5" name="Slide Number Placeholder 4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cgBU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1B0EFC87-C9F6-5B0A-B8B6-3F5FB2F84E6A}" type="slidenum">
              <a:rPr lang="en-us" cap="none"/>
              <a:t>8</a:t>
            </a:fld>
            <a:endParaRPr lang="en-us" cap="none"/>
          </a:p>
        </p:txBody>
      </p:sp>
      <p:sp>
        <p:nvSpPr>
          <p:cNvPr id="6" name="TextBox 5"/>
          <p:cNvSpPr>
            <a:extLst>
              <a:ext uri="smNativeData">
                <pr:smNativeData xmlns:pr="smNativeData" xmlns="smNativeData" val="SMDATA_15_SSBGaRMAAAAlAAAAZAAAAE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B/f38AgICAA8zMzADAwP8Af39/AAAAAAAAAAAAAAAAAAAAAAAAAAAAIQAAABgAAAAUAAAA1gQAAEYbAABwJAAAESYAABAgAAAmAAAACAAAAP//////////"/>
              </a:ext>
            </a:extLst>
          </p:cNvSpPr>
          <p:nvPr/>
        </p:nvSpPr>
        <p:spPr>
          <a:xfrm>
            <a:off x="786130" y="4433570"/>
            <a:ext cx="5137150" cy="175450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spcCol="215900" anchor="t"/>
          <a:lstStyle/>
          <a:p>
            <a:pPr/>
            <a:r>
              <a:rPr lang="en-us" cap="none"/>
              <a:t>transform = transforms.Compose([</a:t>
            </a:r>
            <a:endParaRPr lang="en-us" cap="none"/>
          </a:p>
          <a:p>
            <a:pPr/>
            <a:r>
              <a:rPr lang="en-us" cap="none"/>
              <a:t>    transforms.Resize((img_size, img_size)),</a:t>
            </a:r>
            <a:endParaRPr lang="en-us" cap="none"/>
          </a:p>
          <a:p>
            <a:pPr/>
            <a:r>
              <a:rPr lang="en-us" cap="none"/>
              <a:t>    transforms.ToTensor(),</a:t>
            </a:r>
            <a:endParaRPr lang="en-us" cap="none"/>
          </a:p>
          <a:p>
            <a:pPr/>
            <a:r>
              <a:rPr lang="en-us" cap="none"/>
              <a:t>    transforms.Normalize(mean=[0.485, 0.456, 0.406],</a:t>
            </a:r>
            <a:endParaRPr lang="en-us" cap="none"/>
          </a:p>
          <a:p>
            <a:pPr/>
            <a:r>
              <a:rPr lang="en-us" cap="none"/>
              <a:t>                         std=[0.229, 0.224, 0.225]),</a:t>
            </a:r>
            <a:endParaRPr lang="en-us" cap="none"/>
          </a:p>
          <a:p>
            <a:pPr/>
            <a:r>
              <a:rPr lang="en-us" cap="none"/>
              <a:t>])</a:t>
            </a:r>
            <a:endParaRPr lang="en-us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cap="none"/>
              <a:t>TorchAudio</a:t>
            </a:r>
            <a:endParaRPr lang="en-us" cap="none"/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</p:spPr>
        <p:txBody>
          <a:bodyPr/>
          <a:lstStyle/>
          <a:p>
            <a:pPr/>
            <a:r>
              <a:t>Speech Recognition</a:t>
            </a:r>
          </a:p>
          <a:p>
            <a:pPr/>
            <a:r>
              <a:t>Wave data-to-vector transforms</a:t>
            </a:r>
          </a:p>
          <a:p>
            <a:pPr/>
          </a:p>
          <a:p>
            <a:pPr/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1B0EC3CA-84F6-5B35-B8B6-72608DF84E27}" type="datetime1">
              <a:rPr lang="en-us" cap="none"/>
              <a:t>12/19/2025</a:t>
            </a:fld>
            <a:endParaRPr lang="en-us" cap="none"/>
          </a:p>
        </p:txBody>
      </p:sp>
      <p:sp>
        <p:nvSpPr>
          <p:cNvPr id="5" name="Slide Number Placeholder 4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1B0EE7DC-92F6-5B11-B8B6-6444A9F84E31}" type="slidenum">
              <a:rPr lang="en-us" cap="none"/>
              <a:t>9</a:t>
            </a:fld>
            <a:endParaRPr lang="en-us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AAAAAAmAAAACAAAAAEAAAAAAAAA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</p:spPr>
        <p:txBody>
          <a:bodyPr/>
          <a:lstStyle/>
          <a:p>
            <a:pPr/>
            <a:r>
              <a:t>CNN = Convolutional Neural Net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</p:spPr>
        <p:txBody>
          <a:bodyPr/>
          <a:lstStyle/>
          <a:p>
            <a:pPr>
              <a:defRPr sz="2800" cap="none"/>
            </a:pPr>
            <a:r>
              <a:t>Convolution combines two math functions to produce a third</a:t>
            </a:r>
          </a:p>
          <a:p>
            <a:pPr lvl="1">
              <a:defRPr sz="2400" cap="none"/>
            </a:pPr>
            <a:r>
              <a:t>Conv2D is used for 2D-image convolution</a:t>
            </a:r>
          </a:p>
          <a:p>
            <a:pPr>
              <a:defRPr sz="2800" cap="none"/>
            </a:pPr>
            <a:r>
              <a:t>In image recognition, images are filtered for various features</a:t>
            </a:r>
          </a:p>
          <a:p>
            <a:pPr lvl="1">
              <a:defRPr sz="2400" cap="none"/>
            </a:pPr>
            <a:r>
              <a:t>Kernels = learnable filters that are adjusted during training</a:t>
            </a:r>
          </a:p>
          <a:p>
            <a:pPr lvl="1">
              <a:defRPr sz="2400" cap="none"/>
            </a:pPr>
            <a:r>
              <a:t>Detect on the filtered image (ReLU)</a:t>
            </a:r>
          </a:p>
          <a:p>
            <a:pPr>
              <a:defRPr sz="2800" cap="none"/>
            </a:pPr>
            <a:r>
              <a:t>The filters/kernels are slid over the input image to create a product at each position, followed by summation to produce an output feature map</a:t>
            </a:r>
          </a:p>
          <a:p>
            <a:pPr>
              <a:defRPr sz="2800" cap="none"/>
            </a:pPr>
            <a:r>
              <a:t>bias = offsets or shift adjustment</a:t>
            </a:r>
          </a:p>
          <a:p>
            <a:pPr>
              <a:defRPr sz="2800" cap="none"/>
            </a:pPr>
            <a:r>
              <a:t>CNN usually uses multiple filters simultaneously</a:t>
            </a:r>
          </a:p>
          <a:p>
            <a:pPr lvl="1">
              <a:defRPr sz="2400" cap="none"/>
            </a:pPr>
            <a:r>
              <a:t>Many features in each layer</a:t>
            </a:r>
          </a:p>
          <a:p>
            <a:pPr lvl="1"/>
            <a:r>
              <a:rPr sz="2400" cap="none"/>
              <a:t>Many layers allow complex heirarchical combos of features</a:t>
            </a:r>
          </a:p>
          <a:p>
            <a:pPr lvl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AAAAAAmAAAACAAAAAEAAAAAAAAA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</p:spPr>
        <p:txBody>
          <a:bodyPr/>
          <a:lstStyle/>
          <a:p>
            <a:pPr/>
            <a:r>
              <a:t>ReLU function</a:t>
            </a:r>
          </a:p>
          <a:p>
            <a:pPr/>
            <a:r>
              <a:t>Rectified Linear Unit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ARRwAAihI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42955" cy="1413510"/>
          </a:xfrm>
        </p:spPr>
        <p:txBody>
          <a:bodyPr/>
          <a:lstStyle/>
          <a:p>
            <a:pPr/>
            <a:r>
              <a:t>Introduces non-linear element to learn complex non-linear relationships</a:t>
            </a:r>
          </a:p>
          <a:p>
            <a:pPr/>
            <a:r>
              <a:t>Simple function: ReLU(x) = max(0, x)</a:t>
            </a:r>
          </a:p>
          <a:p>
            <a:pPr/>
            <a:r>
              <a:t>ReLU variants:</a:t>
            </a:r>
          </a:p>
          <a:p>
            <a:pPr lvl="1"/>
            <a:r>
              <a:t>Leaky ReLU() = max(alpha*x, x). Small slope for negative part.</a:t>
            </a:r>
          </a:p>
          <a:p>
            <a:pPr lvl="1"/>
            <a:r>
              <a:t>Parametric ReLU - has slope that is learned during training</a:t>
            </a:r>
          </a:p>
          <a:p>
            <a:pPr lvl="1"/>
            <a:r>
              <a:t>Exponential Linear ELU - for very small inputs</a:t>
            </a:r>
          </a:p>
          <a:p>
            <a:pPr/>
          </a:p>
        </p:txBody>
      </p:sp>
      <p:pic>
        <p:nvPicPr>
          <p:cNvPr id="4" name="Picture1"/>
          <p:cNvPicPr>
            <a:picLocks noChangeAspect="1"/>
            <a:extLst>
              <a:ext uri="smNativeData">
                <pr:smNativeData xmlns:pr="smNativeData" xmlns="smNativeData" val="SMDATA_17_SSBGaRMAAAAlAAAAEQAAAC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DXMc/n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Lvg4wX///8BAAAAAAAAAAAAAAAAAAAAAAAAAAAAAAAAAAAAAAAAAAAAAAACf39/AICAgAPMzMwAwMD/AH9/fwAAAAAAAAAAAAAAAAD///8AAAAAACEAAAAYAAAAFAAAACITAAC4FgAAyi4AANgmAAAA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3110230" y="3693160"/>
            <a:ext cx="4495800" cy="262128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AAAAAAmAAAACAAAAAEAAAAAAAAA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</p:spPr>
        <p:txBody>
          <a:bodyPr/>
          <a:lstStyle/>
          <a:p>
            <a:pPr/>
            <a:r>
              <a:t>Fully connected layers at end</a:t>
            </a:r>
          </a:p>
          <a:p>
            <a:pPr/>
            <a:r>
              <a:t>for classification or regression tasks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SSBG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</p:spPr>
        <p:txBody>
          <a:bodyPr/>
          <a:lstStyle/>
          <a:p>
            <a:pPr/>
            <a:r>
              <a:t>Can be multiple fully connected layers</a:t>
            </a:r>
          </a:p>
          <a:p>
            <a:pPr/>
            <a:r>
              <a:t>Combines the previous convolutional layers to bring everything together to give final classification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535379"/>
      </a:accent3>
      <a:accent4>
        <a:srgbClr val="737359"/>
      </a:accent4>
      <a:accent5>
        <a:srgbClr val="939339"/>
      </a:accent5>
      <a:accent6>
        <a:srgbClr val="B3B319"/>
      </a:accent6>
      <a:hlink>
        <a:srgbClr val="009999"/>
      </a:hlink>
      <a:folHlink>
        <a:srgbClr val="99CC00"/>
      </a:folHlink>
    </a:clrScheme>
    <a:fontScheme name="Presentation">
      <a:majorFont>
        <a:latin typeface="Calibri"/>
        <a:ea typeface="SimSun"/>
        <a:cs typeface="Times New Roman"/>
      </a:majorFont>
      <a:minorFont>
        <a:latin typeface="Calibri"/>
        <a:ea typeface="SimSu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DF7986"/>
        </a:accent3>
        <a:accent4>
          <a:srgbClr val="BF59A6"/>
        </a:accent4>
        <a:accent5>
          <a:srgbClr val="9F39C6"/>
        </a:accent5>
        <a:accent6>
          <a:srgbClr val="7F19E6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ACACDF"/>
        </a:accent3>
        <a:accent4>
          <a:srgbClr val="9C9CBF"/>
        </a:accent4>
        <a:accent5>
          <a:srgbClr val="7C7C9F"/>
        </a:accent5>
        <a:accent6>
          <a:srgbClr val="5C5C7F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6DA6DF"/>
        </a:accent3>
        <a:accent4>
          <a:srgbClr val="4D86BF"/>
        </a:accent4>
        <a:accent5>
          <a:srgbClr val="2D669F"/>
        </a:accent5>
        <a:accent6>
          <a:srgbClr val="0D467F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53ACAC"/>
        </a:accent3>
        <a:accent4>
          <a:srgbClr val="738C8C"/>
        </a:accent4>
        <a:accent5>
          <a:srgbClr val="936C6C"/>
        </a:accent5>
        <a:accent6>
          <a:srgbClr val="B34C4C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6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6D8FA7"/>
        </a:accent3>
        <a:accent4>
          <a:srgbClr val="8DAF87"/>
        </a:accent4>
        <a:accent5>
          <a:srgbClr val="ADCF67"/>
        </a:accent5>
        <a:accent6>
          <a:srgbClr val="CDEF47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7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9E9980"/>
        </a:accent3>
        <a:accent4>
          <a:srgbClr val="7EB9A0"/>
        </a:accent4>
        <a:accent5>
          <a:srgbClr val="5EC9C0"/>
        </a:accent5>
        <a:accent6>
          <a:srgbClr val="3EE9E0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8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209020"/>
        </a:accent3>
        <a:accent4>
          <a:srgbClr val="407040"/>
        </a:accent4>
        <a:accent5>
          <a:srgbClr val="605060"/>
        </a:accent5>
        <a:accent6>
          <a:srgbClr val="80308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9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666A6B"/>
        </a:accent3>
        <a:accent4>
          <a:srgbClr val="864A8B"/>
        </a:accent4>
        <a:accent5>
          <a:srgbClr val="A62AAB"/>
        </a:accent5>
        <a:accent6>
          <a:srgbClr val="C60ACB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0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A07E88"/>
        </a:accent3>
        <a:accent4>
          <a:srgbClr val="C05E68"/>
        </a:accent4>
        <a:accent5>
          <a:srgbClr val="E03E48"/>
        </a:accent5>
        <a:accent6>
          <a:srgbClr val="FF1E28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1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8686DF"/>
        </a:accent3>
        <a:accent4>
          <a:srgbClr val="A6A6BF"/>
        </a:accent4>
        <a:accent5>
          <a:srgbClr val="C6C69F"/>
        </a:accent5>
        <a:accent6>
          <a:srgbClr val="E6E67F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2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8F7F4F"/>
        </a:accent3>
        <a:accent4>
          <a:srgbClr val="6F9F6F"/>
        </a:accent4>
        <a:accent5>
          <a:srgbClr val="4FBF8F"/>
        </a:accent5>
        <a:accent6>
          <a:srgbClr val="2FDFAF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PyTorch</dc:title>
  <dc:subject/>
  <dc:creator/>
  <cp:keywords/>
  <dc:description/>
  <cp:lastModifiedBy>bluuu</cp:lastModifiedBy>
  <cp:revision>0</cp:revision>
  <dcterms:created xsi:type="dcterms:W3CDTF">2025-11-27T05:42:01Z</dcterms:created>
  <dcterms:modified xsi:type="dcterms:W3CDTF">2025-12-20T04:04:25Z</dcterms:modified>
</cp:coreProperties>
</file>