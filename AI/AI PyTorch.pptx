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ebp" ContentType="image/webp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3" r:id="rId3"/>
    <p:sldId id="275" r:id="rId4"/>
    <p:sldId id="276" r:id="rId5"/>
    <p:sldId id="277" r:id="rId6"/>
    <p:sldId id="278" r:id="rId7"/>
    <p:sldId id="279" r:id="rId8"/>
    <p:sldId id="259" r:id="rId9"/>
    <p:sldId id="271" r:id="rId10"/>
    <p:sldId id="261" r:id="rId11"/>
    <p:sldId id="260" r:id="rId12"/>
    <p:sldId id="258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2" r:id="rId23"/>
    <p:sldId id="274" r:id="rId24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0000FF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smNativeData">
      <pr:smAppRevision xmlns="smNativeData" xmlns:pr="smNativeData" xmlns:p15="http://schemas.microsoft.com/office/powerpoint/2012/main" xmlns:p14="http://schemas.microsoft.com/office/powerpoint/2010/main" xmlns:mc="http://schemas.openxmlformats.org/markup-compatibility/2006" dt="1766462014" val="1228" revOS="4"/>
      <pr:smFileRevision xmlns="smNativeData" xmlns:pr="smNativeData" xmlns:p15="http://schemas.microsoft.com/office/powerpoint/2012/main" xmlns:p14="http://schemas.microsoft.com/office/powerpoint/2010/main" xmlns:mc="http://schemas.openxmlformats.org/markup-compatibility/2006" dt="1766462014" val="101"/>
      <pr:guideOptions xmlns="smNativeData" xmlns:pr="smNativeData" xmlns:p15="http://schemas.microsoft.com/office/powerpoint/2012/main" xmlns:p14="http://schemas.microsoft.com/office/powerpoint/2010/main" xmlns:mc="http://schemas.openxmlformats.org/markup-compatibility/2006" dt="1766462014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Objects="1" showGuides="1">
      <p:cViewPr varScale="1">
        <p:scale>
          <a:sx n="156" d="100"/>
          <a:sy n="156" d="100"/>
        </p:scale>
        <p:origin x="456" y="13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  <p:guideLst/>
    </p:cSldViewPr>
  </p:notesViewPr>
  <p:gridSpacing cx="71755" cy="7175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xYQ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y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2B9-F7E1-F274-AF1F-0121CC515954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215-5BE1-F224-AF1F-AD719C5159F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Dcr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Q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ao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Q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66B-25E1-F270-AF1F-D325C8515986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AoW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6E4-AAE1-F220-AF1F-5C7598515909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g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h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C2C1-8FE1-F234-AF1F-79618C51592C}" type="datetime1">
              <a:t>1/6/2026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C6FE-B0E1-F230-AF1F-466588515913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Q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Q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9EF9-B7E1-F268-AF1F-413DD0515914}" type="datetime1">
              <a:t>1/6/2026</a:t>
            </a:fld>
            <a:endParaRPr/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ur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F886-C8E1-F20E-AF1F-3E5BB651596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D96E-20E1-F22F-AF1F-D67A97515983}" type="datetime1">
              <a:t>1/6/2026</a:t>
            </a:fld>
            <a:endParaRPr/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F36F-21E1-F205-AF1F-D750BD515982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71A-54E1-F241-AF1F-A214F95159F7}" type="datetime1">
              <a:t>1/6/2026</a:t>
            </a:fld>
            <a:endParaRPr/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C460-2EE1-F232-AF1F-D8678A51598D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AZ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Q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9336-78E1-F265-AF1F-8E30DD5159DB}" type="datetime1">
              <a:t>1/6/2026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805-4BE1-F22E-AF1F-BD7B965159E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Q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E338-76E1-F215-AF1F-8040AD5159D5}" type="datetime1">
              <a:t>1/6/2026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B2D3-9DE1-F244-AF1F-6B11FC51593E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Q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38B-C5E1-F245-AF1F-3310FD515966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8C0F-41E1-F27A-AF1F-B72FC25159E2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Q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lIns="91440" tIns="45720" rIns="91440" bIns="45720" numCol="1" spcCol="215900" anchor="b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Q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96F-21E1-F24F-AF1F-D71AF7515982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E6B5-FBE1-F210-AF1F-0D45A851595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IMfAAD//8EB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IMfAAD//8EB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IOfAAD//8EB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fld id="{0CA7B237-79E1-F244-AF1F-8F11FC5159DA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IOfAAD//8EB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FBQU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IOfAAD//8EB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fld id="{0CA793EE-A0E1-F265-AF1F-5630DD51590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ebp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ltralytics/yolov5" TargetMode="External"/><Relationship Id="rId2" Type="http://schemas.openxmlformats.org/officeDocument/2006/relationships/hyperlink" Target="https://www.ccoderun.ca/programming/yolo_faq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ltralytics/ultralytics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Folders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Code in \p\AI</a:t>
            </a:r>
          </a:p>
          <a:p>
            <a:r>
              <a:rPr lang="en-US" dirty="0" smtClean="0"/>
              <a:t>AI data in d:\AIData  *should put on network drive</a:t>
            </a:r>
          </a:p>
          <a:p>
            <a:r>
              <a:rPr lang="en-US" dirty="0" smtClean="0"/>
              <a:t>AI data sources:</a:t>
            </a:r>
          </a:p>
          <a:p>
            <a:pPr lvl="1"/>
            <a:r>
              <a:rPr lang="en-US" dirty="0" err="1" smtClean="0"/>
              <a:t>Kaggle</a:t>
            </a:r>
            <a:r>
              <a:rPr lang="en-US" dirty="0" smtClean="0"/>
              <a:t> – easy to download but usually not big datasets</a:t>
            </a:r>
          </a:p>
          <a:p>
            <a:pPr lvl="1"/>
            <a:r>
              <a:rPr lang="en-US" dirty="0" smtClean="0"/>
              <a:t>Hugging Face</a:t>
            </a:r>
          </a:p>
          <a:p>
            <a:pPr lvl="2"/>
            <a:r>
              <a:rPr lang="en-US" dirty="0" smtClean="0"/>
              <a:t>How to download? </a:t>
            </a:r>
            <a:r>
              <a:rPr lang="en-US" smtClean="0"/>
              <a:t>Use API?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8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AI is the broadest term</a:t>
            </a:r>
          </a:p>
          <a:p>
            <a:pPr lvl="1"/>
            <a:r>
              <a:rPr lang="en-US" dirty="0" smtClean="0"/>
              <a:t>Machine learning is a type of AI</a:t>
            </a:r>
          </a:p>
          <a:p>
            <a:pPr lvl="2"/>
            <a:r>
              <a:rPr lang="en-US" dirty="0" smtClean="0"/>
              <a:t>Deep learning is considered a more complex type of machine learning</a:t>
            </a:r>
          </a:p>
          <a:p>
            <a:r>
              <a:rPr lang="en-US" dirty="0" smtClean="0"/>
              <a:t>Machine learning can have different ways to train:</a:t>
            </a:r>
          </a:p>
          <a:p>
            <a:pPr lvl="1"/>
            <a:r>
              <a:rPr lang="en-US" dirty="0" smtClean="0"/>
              <a:t>Supervised learning: labeled datasets (each input data set has corresponding correct output data value(s))</a:t>
            </a:r>
          </a:p>
          <a:p>
            <a:pPr lvl="2"/>
            <a:r>
              <a:rPr lang="en-US" dirty="0" smtClean="0"/>
              <a:t>The correct output value(s) could be classifications or continuous values (regression)</a:t>
            </a:r>
          </a:p>
          <a:p>
            <a:pPr lvl="1"/>
            <a:r>
              <a:rPr lang="en-US" dirty="0" smtClean="0"/>
              <a:t>Unsupervised learning: the world is our teacher</a:t>
            </a:r>
          </a:p>
          <a:p>
            <a:pPr lvl="2"/>
            <a:r>
              <a:rPr lang="en-US" dirty="0" smtClean="0"/>
              <a:t>Unsupervised clustering of data leads to ‘labeling’ them</a:t>
            </a:r>
          </a:p>
          <a:p>
            <a:r>
              <a:rPr lang="en-US" dirty="0" smtClean="0"/>
              <a:t>Clustering: group data points to organize them</a:t>
            </a:r>
          </a:p>
          <a:p>
            <a:r>
              <a:rPr lang="en-US" dirty="0" smtClean="0"/>
              <a:t>Dimensionality Reduction: take a lot of variables and simplify them</a:t>
            </a:r>
          </a:p>
          <a:p>
            <a:r>
              <a:rPr lang="en-US" dirty="0" smtClean="0"/>
              <a:t>Deep Learning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118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machine learning vs. deep learning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/>
          </p:nvPr>
        </p:nvGraphicFramePr>
        <p:xfrm>
          <a:off x="3027948" y="1822409"/>
          <a:ext cx="6087978" cy="4351336"/>
        </p:xfrm>
        <a:graphic>
          <a:graphicData uri="http://schemas.openxmlformats.org/drawingml/2006/table">
            <a:tbl>
              <a:tblPr/>
              <a:tblGrid>
                <a:gridCol w="2029326"/>
                <a:gridCol w="2029326"/>
                <a:gridCol w="2029326"/>
              </a:tblGrid>
              <a:tr h="334718">
                <a:tc>
                  <a:txBody>
                    <a:bodyPr/>
                    <a:lstStyle/>
                    <a:p>
                      <a:pPr algn="l" fontAlgn="t"/>
                      <a:r>
                        <a:rPr lang="en-US" sz="900" dirty="0">
                          <a:effectLst/>
                        </a:rPr>
                        <a:t>Feature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900">
                          <a:effectLst/>
                        </a:rPr>
                        <a:t>Machine Learning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900">
                          <a:effectLst/>
                        </a:rPr>
                        <a:t>Deep Learning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Complexity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Simpler algorithms and models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More complex neural networks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Data Requirements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Can work with smaller </a:t>
                      </a:r>
                      <a:r>
                        <a:rPr lang="en-US" sz="900" dirty="0" smtClean="0">
                          <a:effectLst/>
                        </a:rPr>
                        <a:t>datasets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*but need to label</a:t>
                      </a:r>
                      <a:r>
                        <a:rPr lang="en-US" sz="900" baseline="0" dirty="0" smtClean="0">
                          <a:effectLst/>
                        </a:rPr>
                        <a:t> each set of input values with the correct output value(s)!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Requires large amounts of </a:t>
                      </a:r>
                      <a:r>
                        <a:rPr lang="en-US" sz="900" dirty="0" smtClean="0">
                          <a:effectLst/>
                        </a:rPr>
                        <a:t>data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*because data is un-labeled!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072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Feature Engineering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Manual feature selection and extraction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Automatic feature </a:t>
                      </a:r>
                      <a:r>
                        <a:rPr lang="en-US" sz="900" dirty="0" smtClean="0">
                          <a:effectLst/>
                        </a:rPr>
                        <a:t>learning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*no</a:t>
                      </a:r>
                      <a:r>
                        <a:rPr lang="en-US" sz="900" baseline="0" dirty="0" smtClean="0">
                          <a:effectLst/>
                        </a:rPr>
                        <a:t> need to label data beforehand!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Interpretability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Generally more interpretable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Can be less interpretable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Requires less 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Requires more 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072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Examples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Spam detection, recommendation systems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Image and speech recognition, NLP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2592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 smtClean="0"/>
              <a:t>Types of machine learning algorithms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smtClean="0"/>
              <a:t>Neural Nets</a:t>
            </a:r>
          </a:p>
          <a:p>
            <a:r>
              <a:rPr lang="en-US" dirty="0" smtClean="0"/>
              <a:t>Tree methods: not complete black box, more interpretable.</a:t>
            </a:r>
          </a:p>
          <a:p>
            <a:pPr lvl="1"/>
            <a:r>
              <a:rPr lang="en-US" dirty="0" smtClean="0"/>
              <a:t>Random Forests</a:t>
            </a:r>
          </a:p>
          <a:p>
            <a:pPr lvl="1"/>
            <a:r>
              <a:rPr lang="en-US" dirty="0" smtClean="0"/>
              <a:t>Gradient Boosting Machines</a:t>
            </a:r>
          </a:p>
          <a:p>
            <a:r>
              <a:rPr lang="en-US" dirty="0" smtClean="0"/>
              <a:t>Regression</a:t>
            </a:r>
          </a:p>
          <a:p>
            <a:pPr lvl="1"/>
            <a:r>
              <a:rPr lang="en-US" dirty="0" smtClean="0"/>
              <a:t>Logistic regression: uses S-shaped function (logistic function)</a:t>
            </a:r>
          </a:p>
          <a:p>
            <a:r>
              <a:rPr lang="en-US" dirty="0" smtClean="0"/>
              <a:t>Support Vector Machines: hyperplane to separate classes</a:t>
            </a:r>
          </a:p>
          <a:p>
            <a:r>
              <a:rPr lang="en-US" dirty="0" smtClean="0"/>
              <a:t>k-Nearest Neighbor / clustering: similarity between neighbors</a:t>
            </a:r>
          </a:p>
          <a:p>
            <a:r>
              <a:rPr lang="en-US" dirty="0" smtClean="0"/>
              <a:t>Naïve Bayes: works well for high-dimension data</a:t>
            </a:r>
          </a:p>
          <a:p>
            <a:r>
              <a:rPr lang="en-US" dirty="0" smtClean="0"/>
              <a:t>Dimensional reduction: PCA (principal component analysis), etc.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4035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sz="4000" dirty="0" err="1" smtClean="0"/>
              <a:t>PyTorch</a:t>
            </a:r>
            <a:r>
              <a:rPr lang="en-US" sz="4000" dirty="0" smtClean="0"/>
              <a:t> pre-configured model example:</a:t>
            </a:r>
            <a:br>
              <a:rPr lang="en-US" sz="4000" dirty="0" smtClean="0"/>
            </a:br>
            <a:r>
              <a:rPr lang="en-US" sz="4000" dirty="0" smtClean="0"/>
              <a:t>Resnet18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convolutional neural network (CNN) architecture, specifically an 18-layer deep variant of the </a:t>
            </a:r>
            <a:r>
              <a:rPr lang="en-US" dirty="0" err="1" smtClean="0"/>
              <a:t>ResNet</a:t>
            </a:r>
            <a:r>
              <a:rPr lang="en-US" dirty="0" smtClean="0"/>
              <a:t> (Residual Network) family.</a:t>
            </a:r>
          </a:p>
          <a:p>
            <a:pPr lvl="1"/>
            <a:r>
              <a:rPr lang="en-US" dirty="0" smtClean="0"/>
              <a:t>It's known for its ability to train very deep networks by utilizing residual connections, which help mitigate the vanishing gradient problem.</a:t>
            </a:r>
          </a:p>
          <a:p>
            <a:pPr lvl="1"/>
            <a:r>
              <a:rPr lang="en-US" dirty="0" smtClean="0"/>
              <a:t>ResNet-18 is often used as a starting point for various computer vision tasks, particularly when computational resources are limited.</a:t>
            </a:r>
          </a:p>
          <a:p>
            <a:r>
              <a:rPr lang="en-US" dirty="0" smtClean="0"/>
              <a:t>model = models.resnet18()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480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Neural Net Optimizer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Optimizer: adjusts parameters to minimize loss</a:t>
            </a:r>
          </a:p>
          <a:p>
            <a:pPr lvl="1"/>
            <a:r>
              <a:rPr lang="en-US" dirty="0" smtClean="0"/>
              <a:t>Iteratively adjusts </a:t>
            </a:r>
            <a:r>
              <a:rPr lang="en-US" dirty="0" err="1" smtClean="0"/>
              <a:t>params</a:t>
            </a:r>
            <a:r>
              <a:rPr lang="en-US" dirty="0" smtClean="0"/>
              <a:t> based on calculated gradients</a:t>
            </a:r>
          </a:p>
          <a:p>
            <a:r>
              <a:rPr lang="en-US" dirty="0" smtClean="0"/>
              <a:t>Adam </a:t>
            </a:r>
            <a:r>
              <a:rPr lang="en-US" dirty="0"/>
              <a:t>(Adaptive Moment Estimation) is a widely used optimization algorithm in </a:t>
            </a:r>
            <a:r>
              <a:rPr lang="en-US" dirty="0" err="1"/>
              <a:t>PyTorch</a:t>
            </a:r>
            <a:r>
              <a:rPr lang="en-US" dirty="0"/>
              <a:t> for training neural </a:t>
            </a:r>
            <a:r>
              <a:rPr lang="en-US" dirty="0" smtClean="0"/>
              <a:t>networks.</a:t>
            </a:r>
          </a:p>
          <a:p>
            <a:pPr lvl="1"/>
            <a:r>
              <a:rPr lang="en-US" dirty="0" smtClean="0"/>
              <a:t>It </a:t>
            </a:r>
            <a:r>
              <a:rPr lang="en-US" dirty="0"/>
              <a:t>combines the benefits of two other popular optimization algorithms: </a:t>
            </a:r>
            <a:r>
              <a:rPr lang="en-US" dirty="0" err="1"/>
              <a:t>AdaGrad</a:t>
            </a:r>
            <a:r>
              <a:rPr lang="en-US" dirty="0"/>
              <a:t> and </a:t>
            </a:r>
            <a:r>
              <a:rPr lang="en-US" dirty="0" err="1" smtClean="0"/>
              <a:t>RMSProp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This </a:t>
            </a:r>
            <a:r>
              <a:rPr lang="en-US" dirty="0"/>
              <a:t>combination allows Adam to adapt the learning rates for each parameter individually, making it particularly effective for handling sparse gradients and optimizing non-stationary objectives.</a:t>
            </a:r>
          </a:p>
        </p:txBody>
      </p:sp>
    </p:spTree>
    <p:extLst>
      <p:ext uri="{BB962C8B-B14F-4D97-AF65-F5344CB8AC3E}">
        <p14:creationId xmlns:p14="http://schemas.microsoft.com/office/powerpoint/2010/main" val="3647891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r>
              <a:t>Installing PyTorch &amp; CUDA:</a:t>
            </a:r>
          </a:p>
          <a:p>
            <a:r>
              <a:t>https://pytorch.org/get-started/locally/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4" name="OLEObject1"/>
          <p:cNvGraphicFramePr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PhJKaRMAAAAlAAAAM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EAAAAjAAAABAAAAGQAAAAXAAAAFAAAAAAAAAAAAAAA/38AAP9/AAAAAAAACQAAAAQAAAAAAAAAHgAAAGgAAAAAAAAAAAAAAAAAAAAAAAAAAAAAABAnAAAQJwAAAAAAAAAAAAAAAAAAAAAAAAAAAAAAAAAAAAAAAAAAAAAUAAAAAAAAAMDA/wAAAAAAZAAAADIAAAAAAAAAZAAAAAAAAAB/f38AAA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J8EAAC3CgAAoEYAAKMkAAAAAAAAJgAAAAgAAAD//////////w=="/>
              </a:ext>
            </a:extLst>
          </p:cNvGraphicFramePr>
          <p:nvPr/>
        </p:nvGraphicFramePr>
        <p:xfrm>
          <a:off x="751205" y="1741805"/>
          <a:ext cx="10729595" cy="42138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0" name="Paint.Picture" r:id="rId3" imgW="7802880" imgH="7802880" progId="Paint.Picture">
                  <p:embed/>
                </p:oleObj>
              </mc:Choice>
              <mc:Fallback>
                <p:oleObj name="Paint.Picture" r:id="rId3" imgW="7802880" imgH="7802880" progId="Paint.Picture">
                  <p:embed/>
                  <p:pic>
                    <p:nvPicPr>
                      <p:cNvPr id="0" name="OLEObject1" descr="image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205" y="1741805"/>
                        <a:ext cx="10729595" cy="42138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</a:p>
          <a:p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r>
              <a:t>Gaming Win11 Ryzen9 7900X(12c) 32gb RTX5070 12gb</a:t>
            </a:r>
          </a:p>
          <a:p>
            <a:r>
              <a:t>Mac Mini 16GB: PyTorch is possible but slow</a:t>
            </a:r>
          </a:p>
          <a:p>
            <a:pPr lvl="1"/>
            <a:endParaRPr/>
          </a:p>
          <a:p>
            <a:pPr lvl="1"/>
            <a:endParaRPr/>
          </a:p>
          <a:p>
            <a:pPr lvl="1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endParaRPr sz="2400" cap="none"/>
          </a:p>
          <a:p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rPr lang="en-US" cap="none"/>
              <a:t>TorchVision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c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r>
              <a:rPr lang="en-US" cap="none"/>
              <a:t>Transforms / datasets / models for computer vision</a:t>
            </a:r>
          </a:p>
          <a:p>
            <a:r>
              <a:rPr lang="en-US" cap="none"/>
              <a:t>Models such as:</a:t>
            </a:r>
          </a:p>
          <a:p>
            <a:pPr lvl="1"/>
            <a:r>
              <a:rPr lang="en-US" cap="none"/>
              <a:t>resnet18: convolutional NN that is 18 layers deep</a:t>
            </a:r>
          </a:p>
          <a:p>
            <a:pPr lvl="1"/>
            <a:r>
              <a:rPr lang="en-US" cap="none"/>
              <a:t>resnet50, resnet101, etc.</a:t>
            </a:r>
          </a:p>
          <a:p>
            <a:pPr lvl="1"/>
            <a:r>
              <a:rPr lang="en-US" cap="none"/>
              <a:t>EfficientNet?</a:t>
            </a:r>
          </a:p>
          <a:p>
            <a:pPr lvl="1"/>
            <a:r>
              <a:rPr lang="en-US" cap="none"/>
              <a:t>Swin Transformers?</a:t>
            </a:r>
          </a:p>
          <a:p>
            <a:pPr lvl="1"/>
            <a:endParaRPr lang="en-US" cap="none"/>
          </a:p>
          <a:p>
            <a:pPr marL="0" indent="0">
              <a:buNone/>
            </a:pPr>
            <a:endParaRPr lang="en-US" cap="none"/>
          </a:p>
          <a:p>
            <a:pPr marL="0" indent="0">
              <a:buNone/>
            </a:pPr>
            <a:endParaRPr lang="en-US" cap="none"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3A4-EAE1-F245-AF1F-1C10FD515949}" type="datetime1">
              <a:rPr lang="en-US" cap="none"/>
              <a:t>1/6/2026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cgBU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938C-C2E1-F265-AF1F-3430DD515961}" type="slidenum">
              <a:rPr lang="en-US" cap="none"/>
              <a:t>15</a:t>
            </a:fld>
            <a:endParaRPr lang="en-US" cap="none"/>
          </a:p>
        </p:txBody>
      </p:sp>
      <p:sp>
        <p:nvSpPr>
          <p:cNvPr id="6" name="TextBox 5"/>
          <p:cNvSpPr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E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B/f38AgICAA8zMzADAwP8Af39/AAAAAAAAAAAAAAAAAAAAAAAAAAAAIQAAABgAAAAUAAAA1gQAAEYbAABwJAAAESYAABAgAAAmAAAACAAAAP//////////"/>
              </a:ext>
            </a:extLst>
          </p:cNvSpPr>
          <p:nvPr/>
        </p:nvSpPr>
        <p:spPr>
          <a:xfrm>
            <a:off x="786130" y="4433570"/>
            <a:ext cx="5137150" cy="17545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r>
              <a:rPr lang="en-US" cap="none"/>
              <a:t>transform = transforms.Compose([</a:t>
            </a:r>
          </a:p>
          <a:p>
            <a:r>
              <a:rPr lang="en-US" cap="none"/>
              <a:t>    transforms.Resize((img_size, img_size)),</a:t>
            </a:r>
          </a:p>
          <a:p>
            <a:r>
              <a:rPr lang="en-US" cap="none"/>
              <a:t>    transforms.ToTensor(),</a:t>
            </a:r>
          </a:p>
          <a:p>
            <a:r>
              <a:rPr lang="en-US" cap="none"/>
              <a:t>    transforms.Normalize(mean=[0.485, 0.456, 0.406],</a:t>
            </a:r>
          </a:p>
          <a:p>
            <a:r>
              <a:rPr lang="en-US" cap="none"/>
              <a:t>                         std=[0.229, 0.224, 0.225]),</a:t>
            </a:r>
          </a:p>
          <a:p>
            <a:r>
              <a:rPr lang="en-US" cap="none"/>
              <a:t>])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rPr lang="en-US" cap="none"/>
              <a:t>TorchAudio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Speech Recognition</a:t>
            </a:r>
          </a:p>
          <a:p>
            <a:r>
              <a:t>Wave data-to-vector transforms</a:t>
            </a:r>
          </a:p>
          <a:p>
            <a:endParaRPr/>
          </a:p>
          <a:p>
            <a:endParaRPr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2CB-85E1-F274-AF1F-7321CC515926}" type="datetime1">
              <a:rPr lang="en-US" cap="none"/>
              <a:t>1/6/2026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267-29E1-F224-AF1F-DF719C51598A}" type="slidenum">
              <a:rPr lang="en-US" cap="none"/>
              <a:t>16</a:t>
            </a:fld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CNN = Convolutional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800" cap="none"/>
            </a:pPr>
            <a:r>
              <a:t>Convolution combines two math functions to produce a third</a:t>
            </a:r>
          </a:p>
          <a:p>
            <a:pPr lvl="1">
              <a:defRPr sz="2400" cap="none"/>
            </a:pPr>
            <a:r>
              <a:t>Conv2D is used for 2D-image convolution</a:t>
            </a:r>
          </a:p>
          <a:p>
            <a:pPr>
              <a:defRPr sz="2800" cap="none"/>
            </a:pPr>
            <a:r>
              <a:t>In image recognition, images are filtered for various features</a:t>
            </a:r>
          </a:p>
          <a:p>
            <a:pPr lvl="1">
              <a:defRPr sz="2400" cap="none"/>
            </a:pPr>
            <a:r>
              <a:t>Kernels = learnable filters that are adjusted during training</a:t>
            </a:r>
          </a:p>
          <a:p>
            <a:pPr lvl="1">
              <a:defRPr sz="2400" cap="none"/>
            </a:pPr>
            <a:r>
              <a:t>Detect on the filtered image (ReLU)</a:t>
            </a:r>
          </a:p>
          <a:p>
            <a:pPr>
              <a:defRPr sz="2800" cap="none"/>
            </a:pPr>
            <a:r>
              <a:t>The filters/kernels are slid over the input image to create a product at each position, followed by summation to produce an output feature map</a:t>
            </a:r>
          </a:p>
          <a:p>
            <a:pPr>
              <a:defRPr sz="2800" cap="none"/>
            </a:pPr>
            <a:r>
              <a:t>bias = offsets or shift adjustment</a:t>
            </a:r>
          </a:p>
          <a:p>
            <a:pPr>
              <a:defRPr sz="2800" cap="none"/>
            </a:pPr>
            <a:r>
              <a:t>CNN usually uses multiple filters simultaneously</a:t>
            </a:r>
          </a:p>
          <a:p>
            <a:pPr lvl="1">
              <a:defRPr sz="2400" cap="none"/>
            </a:pPr>
            <a:r>
              <a:t>Many features in each layer</a:t>
            </a:r>
          </a:p>
          <a:p>
            <a:pPr lvl="1"/>
            <a:r>
              <a:rPr sz="2400" cap="none"/>
              <a:t>Many layers allow complex heirarchical combos of features</a:t>
            </a:r>
          </a:p>
          <a:p>
            <a:pPr lvl="1"/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ReLU function</a:t>
            </a:r>
          </a:p>
          <a:p>
            <a:r>
              <a:t>Rectified Linear Unit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ARRwAAi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42955" cy="1413510"/>
          </a:xfrm>
        </p:spPr>
        <p:txBody>
          <a:bodyPr/>
          <a:lstStyle/>
          <a:p>
            <a:r>
              <a:t>Introduces non-linear element to learn complex non-linear relationships</a:t>
            </a:r>
          </a:p>
          <a:p>
            <a:r>
              <a:t>Simple function: ReLU(x) = max(0, x)</a:t>
            </a:r>
          </a:p>
          <a:p>
            <a:r>
              <a:t>ReLU variants:</a:t>
            </a:r>
          </a:p>
          <a:p>
            <a:pPr lvl="1"/>
            <a:r>
              <a:t>Leaky ReLU() = max(alpha*x, x). Small slope for negative part.</a:t>
            </a:r>
          </a:p>
          <a:p>
            <a:pPr lvl="1"/>
            <a:r>
              <a:t>Parametric ReLU - has slope that is learned during training</a:t>
            </a:r>
          </a:p>
          <a:p>
            <a:pPr lvl="1"/>
            <a:r>
              <a:t>Exponential Linear ELU - for very small inputs</a:t>
            </a:r>
          </a:p>
          <a:p>
            <a:endParaRPr/>
          </a:p>
        </p:txBody>
      </p:sp>
      <p:pic>
        <p:nvPicPr>
          <p:cNvPr id="4" name="Picture1"/>
          <p:cNvPicPr>
            <a:picLocks noChangeAspect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PhJK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XMc/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CITAAC4FgAAyi4AANgm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3110230" y="3693160"/>
            <a:ext cx="4495800" cy="262128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Fully connected layers at end</a:t>
            </a:r>
          </a:p>
          <a:p>
            <a:r>
              <a:t>for classification or regression tasks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Can be multiple fully connected layers</a:t>
            </a:r>
          </a:p>
          <a:p>
            <a:r>
              <a:t>Combines the previous convolutional layers to bring everything together to give final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Object Detection models</a:t>
            </a:r>
          </a:p>
          <a:p>
            <a:r>
              <a:t>recognize multiple objects in same image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r>
              <a:rPr sz="2400" dirty="0"/>
              <a:t>YOLO - You Only Look Once - single stage/pass</a:t>
            </a:r>
          </a:p>
          <a:p>
            <a:pPr lvl="1"/>
            <a:r>
              <a:rPr sz="2000" dirty="0" err="1"/>
              <a:t>Darknet</a:t>
            </a:r>
            <a:r>
              <a:rPr sz="2000" dirty="0"/>
              <a:t> latest version is v4 but is continually being improved</a:t>
            </a:r>
          </a:p>
          <a:p>
            <a:pPr lvl="2">
              <a:defRPr cap="none">
                <a:hlinkClick r:id="rId2"/>
              </a:defRPr>
            </a:pPr>
            <a:r>
              <a:rPr sz="1800" dirty="0">
                <a:hlinkClick r:id="rId2"/>
              </a:rPr>
              <a:t>https://www.ccoderun.ca/programming/yolo_faq/</a:t>
            </a:r>
          </a:p>
          <a:p>
            <a:pPr lvl="2"/>
            <a:r>
              <a:rPr sz="1800" dirty="0"/>
              <a:t>https://github.com/hank-ai/darknet</a:t>
            </a:r>
          </a:p>
          <a:p>
            <a:pPr lvl="1"/>
            <a:r>
              <a:rPr sz="2000" dirty="0"/>
              <a:t>Non-</a:t>
            </a:r>
            <a:r>
              <a:rPr sz="2000" dirty="0" err="1"/>
              <a:t>Darknet</a:t>
            </a:r>
            <a:r>
              <a:rPr sz="2000" dirty="0"/>
              <a:t> versions are v5+</a:t>
            </a:r>
          </a:p>
          <a:p>
            <a:pPr lvl="2"/>
            <a:r>
              <a:rPr sz="1800" dirty="0"/>
              <a:t>*Note that </a:t>
            </a:r>
            <a:r>
              <a:rPr lang="en-US" sz="1800" dirty="0" err="1" smtClean="0"/>
              <a:t>U</a:t>
            </a:r>
            <a:r>
              <a:rPr sz="1800" dirty="0" err="1" smtClean="0"/>
              <a:t>ltralytics</a:t>
            </a:r>
            <a:r>
              <a:rPr sz="1800" dirty="0" smtClean="0"/>
              <a:t> </a:t>
            </a:r>
            <a:r>
              <a:rPr sz="1800" dirty="0"/>
              <a:t>does not own Yolo! You can make these models on your own, but they do provide pre-trained </a:t>
            </a:r>
            <a:r>
              <a:rPr sz="1800" dirty="0" smtClean="0"/>
              <a:t>weights</a:t>
            </a:r>
            <a:r>
              <a:rPr lang="en-US" sz="1800" dirty="0" smtClean="0"/>
              <a:t> and super-easy python library (pay if commercial)</a:t>
            </a:r>
            <a:r>
              <a:rPr sz="1800" dirty="0" smtClean="0"/>
              <a:t>.</a:t>
            </a:r>
            <a:endParaRPr sz="1800" dirty="0"/>
          </a:p>
          <a:p>
            <a:pPr lvl="2"/>
            <a:r>
              <a:rPr sz="1800" dirty="0"/>
              <a:t>v5: </a:t>
            </a:r>
            <a:r>
              <a:rPr sz="1800" cap="none" dirty="0">
                <a:hlinkClick r:id="rId3"/>
              </a:rPr>
              <a:t>https://github.com/ultralytics/yolov5</a:t>
            </a:r>
          </a:p>
          <a:p>
            <a:pPr lvl="2"/>
            <a:r>
              <a:rPr sz="1800" dirty="0"/>
              <a:t>v11: </a:t>
            </a:r>
            <a:r>
              <a:rPr sz="1800" cap="none" dirty="0">
                <a:hlinkClick r:id="rId4"/>
              </a:rPr>
              <a:t>https://github.com/ultralytics/ultralytics</a:t>
            </a:r>
          </a:p>
          <a:p>
            <a:pPr lvl="2"/>
            <a:endParaRPr sz="1800" cap="none" dirty="0">
              <a:hlinkClick r:id="rId4"/>
            </a:endParaRPr>
          </a:p>
          <a:p>
            <a:r>
              <a:rPr sz="2400" dirty="0"/>
              <a:t>Faster R-CNN - multiple stage</a:t>
            </a:r>
          </a:p>
          <a:p>
            <a:pPr lvl="2"/>
            <a:r>
              <a:rPr sz="1800" dirty="0"/>
              <a:t>RPN (Region Proposal Network) first, then classifies from there.</a:t>
            </a:r>
          </a:p>
          <a:p>
            <a:pPr lvl="2"/>
            <a:r>
              <a:rPr sz="1800" dirty="0"/>
              <a:t>Slower but more accurate especially for complex scenes &amp; small overlapping</a:t>
            </a:r>
          </a:p>
          <a:p>
            <a:r>
              <a:rPr sz="2400" dirty="0"/>
              <a:t>DETR - Detection Transformer</a:t>
            </a:r>
          </a:p>
          <a:p>
            <a:pPr lvl="2"/>
            <a:r>
              <a:rPr sz="1800" dirty="0"/>
              <a:t>Requires a lot of training data</a:t>
            </a:r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Image Recognition Models that only </a:t>
            </a:r>
          </a:p>
          <a:p>
            <a:r>
              <a:t>recognize the entire image at once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ResNet</a:t>
            </a:r>
          </a:p>
          <a:p>
            <a:r>
              <a:t>MobileNet - Made for Mobile devices</a:t>
            </a:r>
          </a:p>
          <a:p>
            <a:r>
              <a:t>EfficientNet v2 - has variants for different needs</a:t>
            </a:r>
          </a:p>
          <a:p>
            <a:r>
              <a:t>Slower but could be optimized:</a:t>
            </a:r>
          </a:p>
          <a:p>
            <a:pPr lvl="1"/>
            <a:r>
              <a:t>Swin Transformer</a:t>
            </a:r>
          </a:p>
          <a:p>
            <a:pPr lvl="1"/>
            <a:r>
              <a:t>ConvNeXt - modern CNN better than transformers</a:t>
            </a:r>
          </a:p>
          <a:p>
            <a:pPr lvl="1"/>
            <a:r>
              <a:t>CoCa / PaLI / CoAtNet - state-of-the-art / best accuracy</a:t>
            </a:r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Recognition Models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Yolo v4 output:</a:t>
            </a:r>
          </a:p>
          <a:p>
            <a:pPr lvl="1"/>
            <a:r>
              <a:rPr lang="en-US" dirty="0" smtClean="0"/>
              <a:t>Class ID zero-based</a:t>
            </a:r>
          </a:p>
          <a:p>
            <a:pPr lvl="1"/>
            <a:r>
              <a:rPr lang="en-US" dirty="0" smtClean="0"/>
              <a:t>Floating point confidence score</a:t>
            </a:r>
          </a:p>
          <a:p>
            <a:pPr lvl="1"/>
            <a:r>
              <a:rPr lang="en-US" dirty="0" smtClean="0"/>
              <a:t>Bounding box: x, y, width, height</a:t>
            </a:r>
          </a:p>
          <a:p>
            <a:pPr lvl="2"/>
            <a:r>
              <a:rPr lang="en-US" dirty="0" err="1" smtClean="0"/>
              <a:t>x,y</a:t>
            </a:r>
            <a:r>
              <a:rPr lang="en-US" dirty="0" smtClean="0"/>
              <a:t> might be relative to cell?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66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Detection on Edge devices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Raspberry Pi AI Hat (26 Tops)</a:t>
            </a:r>
          </a:p>
          <a:p>
            <a:pPr lvl="1"/>
            <a:r>
              <a:rPr lang="en-US" dirty="0" smtClean="0"/>
              <a:t>What models are available on this??</a:t>
            </a:r>
          </a:p>
          <a:p>
            <a:pPr lvl="2"/>
            <a:r>
              <a:rPr lang="en-US" dirty="0" smtClean="0"/>
              <a:t>Can the output be parsed to identify where the object is??</a:t>
            </a:r>
          </a:p>
          <a:p>
            <a:r>
              <a:rPr lang="en-US" dirty="0" err="1" smtClean="0"/>
              <a:t>Nvidia</a:t>
            </a:r>
            <a:r>
              <a:rPr lang="en-US" dirty="0" smtClean="0"/>
              <a:t> Jetson Orin Nano (40 Tops)</a:t>
            </a:r>
          </a:p>
          <a:p>
            <a:pPr lvl="1"/>
            <a:r>
              <a:rPr lang="en-US" dirty="0" smtClean="0"/>
              <a:t>What models are available </a:t>
            </a:r>
            <a:r>
              <a:rPr lang="en-US" smtClean="0"/>
              <a:t>on this??</a:t>
            </a:r>
            <a:endParaRPr lang="en-US" dirty="0" smtClean="0"/>
          </a:p>
          <a:p>
            <a:pPr lvl="1"/>
            <a:r>
              <a:rPr lang="en-US" dirty="0" smtClean="0"/>
              <a:t>Have 2 of these: 8GB and 4GB versions</a:t>
            </a:r>
          </a:p>
          <a:p>
            <a:pPr lvl="2"/>
            <a:r>
              <a:rPr lang="en-US" dirty="0" smtClean="0"/>
              <a:t>Take NVME hard drives</a:t>
            </a:r>
          </a:p>
          <a:p>
            <a:pPr lvl="1"/>
            <a:r>
              <a:rPr lang="en-US" dirty="0" smtClean="0"/>
              <a:t>New versions:</a:t>
            </a:r>
          </a:p>
          <a:p>
            <a:pPr lvl="2"/>
            <a:r>
              <a:rPr lang="en-US" dirty="0" smtClean="0"/>
              <a:t>Super version w/67 Tops $250</a:t>
            </a:r>
          </a:p>
          <a:p>
            <a:pPr lvl="2"/>
            <a:r>
              <a:rPr lang="en-US" dirty="0" smtClean="0"/>
              <a:t>AGX Orin 275 Tops $999</a:t>
            </a:r>
          </a:p>
          <a:p>
            <a:pPr lvl="2"/>
            <a:r>
              <a:rPr lang="en-US" dirty="0" smtClean="0"/>
              <a:t>Thor 2070 Tops  $2799</a:t>
            </a:r>
          </a:p>
          <a:p>
            <a:pPr lvl="1"/>
            <a:endParaRPr lang="en-US" dirty="0" smtClean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668842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1513</Words>
  <Application>Microsoft Office PowerPoint</Application>
  <PresentationFormat>Widescreen</PresentationFormat>
  <Paragraphs>232</Paragraphs>
  <Slides>23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SimSun</vt:lpstr>
      <vt:lpstr>Calibri</vt:lpstr>
      <vt:lpstr>Times New Roman</vt:lpstr>
      <vt:lpstr>Presentation</vt:lpstr>
      <vt:lpstr>Paint.Picture</vt:lpstr>
      <vt:lpstr>AI PyTorch</vt:lpstr>
      <vt:lpstr>Folders</vt:lpstr>
      <vt:lpstr>Terminology</vt:lpstr>
      <vt:lpstr>machine learning vs. deep learning</vt:lpstr>
      <vt:lpstr>Types of machine learning algorithms</vt:lpstr>
      <vt:lpstr>PyTorch pre-configured model example: Resnet18</vt:lpstr>
      <vt:lpstr>Neural Net Optimizer</vt:lpstr>
      <vt:lpstr>Why PyTorch vs Tensorflow/Jax?</vt:lpstr>
      <vt:lpstr>Installing PyTorch &amp; CUDA: https://pytorch.org/get-started/locally/</vt:lpstr>
      <vt:lpstr>Conda install</vt:lpstr>
      <vt:lpstr>Computer PyTorch installs</vt:lpstr>
      <vt:lpstr>Books and what they cover</vt:lpstr>
      <vt:lpstr>Dynamic Computation Graph</vt:lpstr>
      <vt:lpstr>Inherit from nn.Module to create Neural Net</vt:lpstr>
      <vt:lpstr>TorchVision</vt:lpstr>
      <vt:lpstr>TorchAudio</vt:lpstr>
      <vt:lpstr>CNN = Convolutional Neural Net</vt:lpstr>
      <vt:lpstr>ReLU function Rectified Linear Unit</vt:lpstr>
      <vt:lpstr>Fully connected layers at end for classification or regression tasks</vt:lpstr>
      <vt:lpstr>Object Detection models recognize multiple objects in same image</vt:lpstr>
      <vt:lpstr>Image Recognition Models that only  recognize the entire image at once</vt:lpstr>
      <vt:lpstr>Object Recognition Models Output</vt:lpstr>
      <vt:lpstr>Object Detection on Edge devices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guy</cp:lastModifiedBy>
  <cp:revision>21</cp:revision>
  <dcterms:created xsi:type="dcterms:W3CDTF">2025-11-27T05:42:01Z</dcterms:created>
  <dcterms:modified xsi:type="dcterms:W3CDTF">2026-01-07T02:07:56Z</dcterms:modified>
</cp:coreProperties>
</file>