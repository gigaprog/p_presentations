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6" r:id="rId6"/>
    <p:sldId id="259" r:id="rId7"/>
    <p:sldId id="271" r:id="rId8"/>
    <p:sldId id="261" r:id="rId9"/>
    <p:sldId id="260" r:id="rId10"/>
    <p:sldId id="258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66462014" val="1228" revOS="4"/>
      <pr:smFileRevision xmlns:pr="smNativeData" xmlns="smNativeData" dt="1766462014" val="101"/>
      <pr:guideOptions xmlns:pr="smNativeData" xmlns="smNativeData" dt="1766462014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70" d="100"/>
          <a:sy n="70" d="100"/>
        </p:scale>
        <p:origin x="384" y="555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drawings/_rels/vmlDrawing1.vml.rels><?xml version="1.0" encoding="UTF-8" standalone="yes" ?>
<Relationships xmlns="http://schemas.openxmlformats.org/package/2006/relationships"><Relationship Id="rId1" Type="http://schemas.openxmlformats.org/officeDocument/2006/relationships/image" Target="../media/image1.wmf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xYQ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y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82B9-F7E1-F274-AF1F-0121CC515954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D215-5BE1-F224-AF1F-AD719C5159F8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Dcr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AC8E-C0E1-F25A-AF1F-360FE2515963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DD58-16E1-F22B-AF1F-E07E935159B5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Q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ao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Q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866B-25E1-F270-AF1F-D325C8515986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AoW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D6E4-AAE1-F220-AF1F-5C7598515909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g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h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C2C1-8FE1-F234-AF1F-79618C51592C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C6FE-B0E1-F230-AF1F-466588515913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Q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Q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9EF9-B7E1-F268-AF1F-413DD0515914}" type="datetime1">
              <a:t>12/16/2025</a:t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ur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F886-C8E1-F20E-AF1F-3E5BB651596B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D96E-20E1-F22F-AF1F-D67A97515983}" type="datetime1">
              <a:t>12/16/2025</a:t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F36F-21E1-F205-AF1F-D750BD515982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B71A-54E1-F241-AF1F-A214F95159F7}" type="datetime1">
              <a:t>12/16/2025</a:t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C460-2EE1-F232-AF1F-D8678A51598D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AZ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Q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9336-78E1-F265-AF1F-8E30DD5159DB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D805-4BE1-F22E-AF1F-BD7B965159E8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Q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E338-76E1-F215-AF1F-8040AD5159D5}" type="datetime1">
              <a:t>12/16/2025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B2D3-9DE1-F244-AF1F-6B11FC51593E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Q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B38B-C5E1-F245-AF1F-3310FD515966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8C0F-41E1-F27A-AF1F-B72FC25159E2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Q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lIns="91440" tIns="45720" rIns="91440" bIns="45720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Q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B96F-21E1-F24F-AF1F-D71AF7515982}" type="datetime1">
              <a:t>12/16/2025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E6B5-FBE1-F210-AF1F-0D45A8515958}" type="slidenum">
              <a:t>‹#›</a:t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IMfAAD//8EB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IMfAAD//8EB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IOfAAD//8EB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0CA7B237-79E1-F244-AF1F-8F11FC5159DA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IOfAAD//8EB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FBQU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IOfAAD//8EB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0CA793EE-A0E1-F265-AF1F-5630DD515903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vmlDrawing" Target="../drawings/vmlDrawing1.vml"/><Relationship Id="rId3" Type="http://schemas.openxmlformats.org/officeDocument/2006/relationships/oleObject" Target="../embeddings/oleObject1.bin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webp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ccoderun.ca/programming/yolo_faq/" TargetMode="External"/><Relationship Id="rId3" Type="http://schemas.openxmlformats.org/officeDocument/2006/relationships/hyperlink" Target="https://github.com/ultralytics/yolov5" TargetMode="External"/><Relationship Id="rId4" Type="http://schemas.openxmlformats.org/officeDocument/2006/relationships/hyperlink" Target="https://github.com/ultralytics/ultralytics" TargetMode="Externa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/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  <a:endParaRPr sz="2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pPr/>
            <a:r>
              <a:t>Installing PyTorch &amp; CUDA:</a:t>
            </a:r>
          </a:p>
          <a:p>
            <a:pPr/>
            <a:r>
              <a:t>https://pytorch.org/get-started/locally/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</a:p>
        </p:txBody>
      </p:sp>
      <p:graphicFrame>
        <p:nvGraphicFramePr>
          <p:cNvPr id="4" name="OLEObject1"/>
          <p:cNvGraphicFramePr>
            <a:extLst>
              <a:ext uri="smNativeData">
                <pr:smNativeData xmlns:pr="smNativeData" xmlns="smNativeData" val="SMDATA_17_PhJKaRMAAAAlAAAAM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EAAAAjAAAABAAAAGQAAAAXAAAAFAAAAAAAAAAAAAAA/38AAP9/AAAAAAAACQAAAAQAAAAAAAAAHgAAAGgAAAAAAAAAAAAAAAAAAAAAAAAAAAAAABAnAAAQJwAAAAAAAAAAAAAAAAAAAAAAAAAAAAAAAAAAAAAAAAAAAAAUAAAAAAAAAMDA/wAAAAAAZAAAADIAAAAAAAAAZAAAAAAAAAB/f38AAA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J8EAAC3CgAAoEYAAKMkAAAAAAAAJgAAAAgAAAD//////////w=="/>
              </a:ext>
            </a:extLst>
          </p:cNvGraphicFramePr>
          <p:nvPr/>
        </p:nvGraphicFramePr>
        <p:xfrm>
          <a:off x="751205" y="1741805"/>
          <a:ext cx="10729595" cy="4213860"/>
        </p:xfrm>
        <a:graphic>
          <a:graphicData uri="http://schemas.openxmlformats.org/presentationml/2006/ole">
            <p:oleObj spid="_x0000_s1028" name="Paint.Picture" r:id="rId3" imgW="7802880" imgH="7802880" progId="Paint.Picture">
              <p:embed/>
            </p:oleObj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pPr/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  <a:endParaRPr sz="2000" cap="none"/>
          </a:p>
          <a:p>
            <a:pPr/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pPr/>
            <a:r>
              <a:t>Gaming Win11 Ryzen9 7900X(12c) 32gb RTX5070 12gb</a:t>
            </a:r>
          </a:p>
          <a:p>
            <a:pPr/>
            <a:r>
              <a:t>Mac Mini 16GB: PyTorch is possible but slow</a:t>
            </a:r>
          </a:p>
          <a:p>
            <a:pPr lvl="1"/>
          </a:p>
          <a:p>
            <a:pPr lvl="1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pPr/>
            <a:endParaRPr sz="2400" cap="none"/>
          </a:p>
          <a:p>
            <a:pPr/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TorchVision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c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pPr/>
            <a:r>
              <a:rPr lang="en-us" cap="none"/>
              <a:t>Transforms / datasets / models for computer vision</a:t>
            </a:r>
            <a:endParaRPr lang="en-us" cap="none"/>
          </a:p>
          <a:p>
            <a:pPr/>
            <a:r>
              <a:rPr lang="en-us" cap="none"/>
              <a:t>Models such as:</a:t>
            </a:r>
            <a:endParaRPr lang="en-us" cap="none"/>
          </a:p>
          <a:p>
            <a:pPr lvl="1"/>
            <a:r>
              <a:rPr lang="en-us" cap="none"/>
              <a:t>resnet18: convolutional NN that is 18 layers deep</a:t>
            </a:r>
            <a:endParaRPr lang="en-us" cap="none"/>
          </a:p>
          <a:p>
            <a:pPr lvl="1"/>
            <a:r>
              <a:rPr lang="en-us" cap="none"/>
              <a:t>resnet50, resnet101, etc.</a:t>
            </a:r>
            <a:endParaRPr lang="en-us" cap="none"/>
          </a:p>
          <a:p>
            <a:pPr lvl="1"/>
            <a:r>
              <a:rPr lang="en-us" cap="none"/>
              <a:t>EfficientNet?</a:t>
            </a:r>
            <a:endParaRPr lang="en-us" cap="none"/>
          </a:p>
          <a:p>
            <a:pPr lvl="1"/>
            <a:r>
              <a:rPr lang="en-us" cap="none"/>
              <a:t>Swin Transformers?</a:t>
            </a:r>
            <a:endParaRPr lang="en-us" cap="none"/>
          </a:p>
          <a:p>
            <a:pPr lvl="1"/>
            <a:endParaRPr lang="en-us" cap="none"/>
          </a:p>
          <a:p>
            <a:pPr marL="0" indent="0">
              <a:buNone/>
            </a:pPr>
            <a:endParaRPr lang="en-us" cap="none"/>
          </a:p>
          <a:p>
            <a:pPr marL="0" indent="0">
              <a:buNone/>
            </a:pPr>
            <a:endParaRPr lang="en-us" cap="none"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B3A4-EAE1-F245-AF1F-1C10FD515949}" type="datetime1">
              <a:rPr lang="en-us" cap="none"/>
              <a:t>12/22/2025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cgBU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938C-C2E1-F265-AF1F-3430DD515961}" type="slidenum">
              <a:rPr lang="en-us" cap="none"/>
              <a:t>8</a:t>
            </a:fld>
            <a:endParaRPr lang="en-us" cap="none"/>
          </a:p>
        </p:txBody>
      </p:sp>
      <p:sp>
        <p:nvSpPr>
          <p:cNvPr id="6" name="TextBox 5"/>
          <p:cNvSpPr>
            <a:extLst>
              <a:ext uri="smNativeData">
                <pr:smNativeData xmlns:pr="smNativeData" xmlns="smNativeData" val="SMDATA_15_PhJKaRMAAAAlAAAAZAAAAE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B/f38AgICAA8zMzADAwP8Af39/AAAAAAAAAAAAAAAAAAAAAAAAAAAAIQAAABgAAAAUAAAA1gQAAEYbAABwJAAAESYAABAgAAAmAAAACAAAAP//////////"/>
              </a:ext>
            </a:extLst>
          </p:cNvSpPr>
          <p:nvPr/>
        </p:nvSpPr>
        <p:spPr>
          <a:xfrm>
            <a:off x="786130" y="4433570"/>
            <a:ext cx="5137150" cy="17545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/>
            <a:r>
              <a:rPr lang="en-us" cap="none"/>
              <a:t>transform = transforms.Compose([</a:t>
            </a:r>
            <a:endParaRPr lang="en-us" cap="none"/>
          </a:p>
          <a:p>
            <a:pPr/>
            <a:r>
              <a:rPr lang="en-us" cap="none"/>
              <a:t>    transforms.Resize((img_size, img_size)),</a:t>
            </a:r>
            <a:endParaRPr lang="en-us" cap="none"/>
          </a:p>
          <a:p>
            <a:pPr/>
            <a:r>
              <a:rPr lang="en-us" cap="none"/>
              <a:t>    transforms.ToTensor(),</a:t>
            </a:r>
            <a:endParaRPr lang="en-us" cap="none"/>
          </a:p>
          <a:p>
            <a:pPr/>
            <a:r>
              <a:rPr lang="en-us" cap="none"/>
              <a:t>    transforms.Normalize(mean=[0.485, 0.456, 0.406],</a:t>
            </a:r>
            <a:endParaRPr lang="en-us" cap="none"/>
          </a:p>
          <a:p>
            <a:pPr/>
            <a:r>
              <a:rPr lang="en-us" cap="none"/>
              <a:t>                         std=[0.229, 0.224, 0.225]),</a:t>
            </a:r>
            <a:endParaRPr lang="en-us" cap="none"/>
          </a:p>
          <a:p>
            <a:pPr/>
            <a:r>
              <a:rPr lang="en-us" cap="none"/>
              <a:t>])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cap="none"/>
              <a:t>TorchAudio</a:t>
            </a:r>
            <a:endParaRPr lang="en-us" cap="none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Speech Recognition</a:t>
            </a:r>
          </a:p>
          <a:p>
            <a:pPr/>
            <a:r>
              <a:t>Wave data-to-vector transforms</a:t>
            </a:r>
          </a:p>
          <a:p>
            <a:pPr/>
          </a:p>
          <a:p>
            <a:pPr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CA782CB-85E1-F274-AF1F-7321CC515926}" type="datetime1">
              <a:rPr lang="en-us" cap="none"/>
              <a:t>12/22/2025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0CA7D267-29E1-F224-AF1F-DF719C51598A}" type="slidenum">
              <a:rPr lang="en-us" cap="none"/>
              <a:t>9</a:t>
            </a:fld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CNN = Convolutional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800" cap="none"/>
            </a:pPr>
            <a:r>
              <a:t>Convolution combines two math functions to produce a third</a:t>
            </a:r>
          </a:p>
          <a:p>
            <a:pPr lvl="1">
              <a:defRPr sz="2400" cap="none"/>
            </a:pPr>
            <a:r>
              <a:t>Conv2D is used for 2D-image convolution</a:t>
            </a:r>
          </a:p>
          <a:p>
            <a:pPr>
              <a:defRPr sz="2800" cap="none"/>
            </a:pPr>
            <a:r>
              <a:t>In image recognition, images are filtered for various features</a:t>
            </a:r>
          </a:p>
          <a:p>
            <a:pPr lvl="1">
              <a:defRPr sz="2400" cap="none"/>
            </a:pPr>
            <a:r>
              <a:t>Kernels = learnable filters that are adjusted during training</a:t>
            </a:r>
          </a:p>
          <a:p>
            <a:pPr lvl="1">
              <a:defRPr sz="2400" cap="none"/>
            </a:pPr>
            <a:r>
              <a:t>Detect on the filtered image (ReLU)</a:t>
            </a:r>
          </a:p>
          <a:p>
            <a:pPr>
              <a:defRPr sz="2800" cap="none"/>
            </a:pPr>
            <a:r>
              <a:t>The filters/kernels are slid over the input image to create a product at each position, followed by summation to produce an output feature map</a:t>
            </a:r>
          </a:p>
          <a:p>
            <a:pPr>
              <a:defRPr sz="2800" cap="none"/>
            </a:pPr>
            <a:r>
              <a:t>bias = offsets or shift adjustment</a:t>
            </a:r>
          </a:p>
          <a:p>
            <a:pPr>
              <a:defRPr sz="2800" cap="none"/>
            </a:pPr>
            <a:r>
              <a:t>CNN usually uses multiple filters simultaneously</a:t>
            </a:r>
          </a:p>
          <a:p>
            <a:pPr lvl="1">
              <a:defRPr sz="2400" cap="none"/>
            </a:pPr>
            <a:r>
              <a:t>Many features in each layer</a:t>
            </a:r>
          </a:p>
          <a:p>
            <a:pPr lvl="1"/>
            <a:r>
              <a:rPr sz="2400" cap="none"/>
              <a:t>Many layers allow complex heirarchical combos of features</a:t>
            </a:r>
            <a:endParaRPr sz="2400" cap="none"/>
          </a:p>
          <a:p>
            <a:pPr lvl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ReLU function</a:t>
            </a:r>
          </a:p>
          <a:p>
            <a:pPr/>
            <a:r>
              <a:t>Rectified Linear Unit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ARRwAAi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42955" cy="1413510"/>
          </a:xfrm>
        </p:spPr>
        <p:txBody>
          <a:bodyPr/>
          <a:lstStyle/>
          <a:p>
            <a:pPr/>
            <a:r>
              <a:t>Introduces non-linear element to learn complex non-linear relationships</a:t>
            </a:r>
          </a:p>
          <a:p>
            <a:pPr/>
            <a:r>
              <a:t>Simple function: ReLU(x) = max(0, x)</a:t>
            </a:r>
          </a:p>
          <a:p>
            <a:pPr/>
            <a:r>
              <a:t>ReLU variants:</a:t>
            </a:r>
          </a:p>
          <a:p>
            <a:pPr lvl="1"/>
            <a:r>
              <a:t>Leaky ReLU() = max(alpha*x, x). Small slope for negative part.</a:t>
            </a:r>
          </a:p>
          <a:p>
            <a:pPr lvl="1"/>
            <a:r>
              <a:t>Parametric ReLU - has slope that is learned during training</a:t>
            </a:r>
          </a:p>
          <a:p>
            <a:pPr lvl="1"/>
            <a:r>
              <a:t>Exponential Linear ELU - for very small inputs</a:t>
            </a:r>
          </a:p>
          <a:p>
            <a:pPr/>
          </a:p>
        </p:txBody>
      </p:sp>
      <p:pic>
        <p:nvPicPr>
          <p:cNvPr id="4" name="Picture1"/>
          <p:cNvPicPr>
            <a:picLocks noChangeAspect="1"/>
            <a:extLst>
              <a:ext uri="smNativeData">
                <pr:smNativeData xmlns:pr="smNativeData" xmlns="smNativeData" val="SMDATA_17_PhJK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XMc/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CITAAC4FgAAyi4AANgm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3110230" y="3693160"/>
            <a:ext cx="4495800" cy="262128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Fully connected layers at end</a:t>
            </a:r>
          </a:p>
          <a:p>
            <a:pPr/>
            <a:r>
              <a:t>for classification or regression tasks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Can be multiple fully connected layers</a:t>
            </a:r>
          </a:p>
          <a:p>
            <a:pPr/>
            <a:r>
              <a:t>Combines the previous convolutional layers to bring everything together to give final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Object Detection models</a:t>
            </a:r>
          </a:p>
          <a:p>
            <a:pPr/>
            <a:r>
              <a:t>recognize multiple objects in same image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/>
            <a:r>
              <a:t>YOLO - You Only Look Once - single stage/pass</a:t>
            </a:r>
          </a:p>
          <a:p>
            <a:pPr lvl="1"/>
            <a:r>
              <a:t>Darknet latest version is v4 but is continually being improved</a:t>
            </a:r>
          </a:p>
          <a:p>
            <a:pPr lvl="2">
              <a:defRPr cap="none">
                <a:hlinkClick r:id="rId2"/>
              </a:defRPr>
            </a:pPr>
            <a:r>
              <a:rPr>
                <a:hlinkClick r:id="rId2"/>
              </a:rPr>
              <a:t>https://www.ccoderun.ca/programming/yolo_faq/</a:t>
            </a:r>
            <a:endParaRPr>
              <a:hlinkClick r:id="rId2"/>
            </a:endParaRPr>
          </a:p>
          <a:p>
            <a:pPr lvl="2"/>
            <a:r>
              <a:t>https://github.com/hank-ai/darknet</a:t>
            </a:r>
          </a:p>
          <a:p>
            <a:pPr lvl="1"/>
            <a:r>
              <a:t>Non-Darknet versions are v5+</a:t>
            </a:r>
          </a:p>
          <a:p>
            <a:pPr lvl="2"/>
            <a:r>
              <a:t>*Note that ultralytics does not own Yolo! You can make these models on your own, but they do provide pre-trained weights which is important.</a:t>
            </a:r>
          </a:p>
          <a:p>
            <a:pPr lvl="2"/>
            <a:r>
              <a:t>v5: </a:t>
            </a:r>
            <a:r>
              <a:rPr cap="none">
                <a:hlinkClick r:id="rId3"/>
              </a:rPr>
              <a:t>https://github.com/ultralytics/yolov5</a:t>
            </a:r>
            <a:endParaRPr cap="none">
              <a:hlinkClick r:id="rId3"/>
            </a:endParaRPr>
          </a:p>
          <a:p>
            <a:pPr lvl="2"/>
            <a:r>
              <a:t>v11: </a:t>
            </a:r>
            <a:r>
              <a:rPr cap="none">
                <a:hlinkClick r:id="rId4"/>
              </a:rPr>
              <a:t>https://github.com/ultralytics/ultralytics</a:t>
            </a:r>
            <a:endParaRPr cap="none">
              <a:hlinkClick r:id="rId4"/>
            </a:endParaRPr>
          </a:p>
          <a:p>
            <a:pPr lvl="2"/>
          </a:p>
          <a:p>
            <a:pPr/>
            <a:r>
              <a:t>Faster R-CNN - multiple stage</a:t>
            </a:r>
          </a:p>
          <a:p>
            <a:pPr lvl="2"/>
            <a:r>
              <a:t>RPN (Region Proposal Network) first, then classifies from there.</a:t>
            </a:r>
          </a:p>
          <a:p>
            <a:pPr lvl="2"/>
            <a:r>
              <a:t>Slower but more accurate especially for complex scenes &amp; small overlapping</a:t>
            </a:r>
          </a:p>
          <a:p>
            <a:pPr/>
            <a:r>
              <a:t>DETR - Detection Transformer</a:t>
            </a:r>
          </a:p>
          <a:p>
            <a:pPr lvl="2"/>
            <a:r>
              <a:t>Requires a lot of training data</a:t>
            </a:r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Image Recognition Models that only </a:t>
            </a:r>
          </a:p>
          <a:p>
            <a:pPr/>
            <a:r>
              <a:t>recognize the entire image at once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ResNet</a:t>
            </a:r>
          </a:p>
          <a:p>
            <a:pPr/>
            <a:r>
              <a:t>MobileNet - Made for Mobile devices</a:t>
            </a:r>
          </a:p>
          <a:p>
            <a:pPr/>
            <a:r>
              <a:t>EfficientNet v2 - has variants for different needs</a:t>
            </a:r>
          </a:p>
          <a:p>
            <a:pPr/>
            <a:r>
              <a:t>Slower but could be optimized:</a:t>
            </a:r>
          </a:p>
          <a:p>
            <a:pPr lvl="1"/>
            <a:r>
              <a:t>Swin Transformer</a:t>
            </a:r>
          </a:p>
          <a:p>
            <a:pPr lvl="1"/>
            <a:r>
              <a:t>ConvNeXt - modern CNN better than transformers</a:t>
            </a:r>
          </a:p>
          <a:p>
            <a:pPr lvl="1"/>
            <a:r>
              <a:t>CoCa / PaLI / CoAtNet - state-of-the-art / best accuracy</a:t>
            </a:r>
          </a:p>
          <a:p>
            <a:p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bluuu</cp:lastModifiedBy>
  <cp:revision>0</cp:revision>
  <dcterms:created xsi:type="dcterms:W3CDTF">2025-11-27T05:42:01Z</dcterms:created>
  <dcterms:modified xsi:type="dcterms:W3CDTF">2025-12-23T03:53:34Z</dcterms:modified>
</cp:coreProperties>
</file>