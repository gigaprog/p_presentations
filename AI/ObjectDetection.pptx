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  <p:sldId id="257" r:id="rId7"/>
    <p:sldId id="258" r:id="rId8"/>
    <p:sldId id="261" r:id="rId9"/>
    <p:sldId id="260" r:id="rId10"/>
    <p:sldId id="259" r:id="rId11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9829114" val="1228" revOS="4"/>
      <pr:smFileRevision xmlns:pr="smNativeData" xmlns="smNativeData" dt="1769829114" val="101"/>
      <pr:guideOptions xmlns:pr="smNativeData" xmlns="smNativeData" dt="1769829114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>
      <p:cViewPr varScale="1">
        <p:scale>
          <a:sx n="70" d="100"/>
          <a:sy n="70" d="100"/>
        </p:scale>
        <p:origin x="384" y="555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5" d="100"/>
        <a:sy n="15" d="100"/>
      </p:scale>
      <p:origin x="0" y="0"/>
    </p:cViewPr>
  </p:sorterViewPr>
  <p:notesViewPr>
    <p:cSldViewPr snapToGrid="0">
      <p:cViewPr>
        <p:scale>
          <a:sx n="70" d="100"/>
          <a:sy n="70" d="100"/>
        </p:scale>
        <p:origin x="384" y="555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AkAAOgGAACgQQAAmBUAABAAAAAmAAAACAAAAIGAAAAAAAAA"/>
              </a:ext>
            </a:extLst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ctr">
              <a:defRPr lang="en-us" sz="60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AkAACkWAACgQQAAWCAAABAAAAAmAAAACAAAAAGAAAAAAAAA"/>
              </a:ext>
            </a:extLst>
          </p:cNvSpPr>
          <p:nvPr>
            <p:ph type="subTitle" idx="1"/>
          </p:nvPr>
        </p:nvSpPr>
        <p:spPr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lang="en-us" sz="2400" cap="none"/>
            </a:lvl1pPr>
            <a:lvl2pPr marL="457200" indent="0" algn="ctr">
              <a:buNone/>
              <a:defRPr lang="en-us" sz="2000" cap="none"/>
            </a:lvl2pPr>
            <a:lvl3pPr marL="914400" indent="0" algn="ctr">
              <a:buNone/>
              <a:defRPr lang="en-us" sz="1800" cap="none"/>
            </a:lvl3pPr>
            <a:lvl4pPr marL="1371600" indent="0" algn="ctr">
              <a:buNone/>
              <a:defRPr lang="en-us" sz="1600" cap="none"/>
            </a:lvl4pPr>
            <a:lvl5pPr marL="1828800" indent="0" algn="ctr">
              <a:buNone/>
              <a:defRPr lang="en-us" sz="1600" cap="none"/>
            </a:lvl5pPr>
            <a:lvl6pPr marL="2286000" indent="0" algn="ctr">
              <a:buNone/>
              <a:defRPr lang="en-us" sz="1600" cap="none"/>
            </a:lvl6pPr>
            <a:lvl7pPr marL="2743200" indent="0" algn="ctr">
              <a:buNone/>
              <a:defRPr lang="en-us" sz="1600" cap="none"/>
            </a:lvl7pPr>
            <a:lvl8pPr marL="3200400" indent="0" algn="ctr">
              <a:buNone/>
              <a:defRPr lang="en-us" sz="1600" cap="none"/>
            </a:lvl8pPr>
            <a:lvl9pPr marL="3657600" indent="0" algn="ctr">
              <a:buNone/>
              <a:defRPr lang="en-us" sz="1600" cap="none"/>
            </a:lvl9pPr>
          </a:lstStyle>
          <a:p>
            <a:pPr>
              <a:defRPr lang="en-us"/>
            </a:pPr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vu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D986-C8D7-AC2F-9941-3E7A970F6F6B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xpY2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F725-6BD7-AC01-9941-9D54B90F6FC8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xpY2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PPcg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DYRQAAACY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g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98E7-A9D7-AC6E-9941-5F3BD60F6F0A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ZgtQ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jYGQ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E04E-00D7-AC16-9941-F643AE0F6FA3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gUAAIUKAADORQAAERwAABAAAAAmAAAACAAAAIGAAAAAAAAA"/>
              </a:ext>
            </a:extLst>
          </p:cNvSpPr>
          <p:nvPr>
            <p:ph type="title"/>
          </p:nvPr>
        </p:nvSpPr>
        <p:spPr>
          <a:xfrm>
            <a:off x="831850" y="1710055"/>
            <a:ext cx="10515600" cy="285242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60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ButQ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gUAADwcAADORQAAdiUAABAAAAAmAAAACAAAAAGAAAAAAAAA"/>
              </a:ext>
            </a:extLst>
          </p:cNvSpPr>
          <p:nvPr>
            <p:ph idx="1"/>
          </p:nvPr>
        </p:nvSpPr>
        <p:spPr>
          <a:xfrm>
            <a:off x="831850" y="4589780"/>
            <a:ext cx="10515600" cy="1499870"/>
          </a:xfrm>
        </p:spPr>
        <p:txBody>
          <a:bodyPr/>
          <a:lstStyle>
            <a:lvl1pPr marL="0" indent="0">
              <a:buNone/>
              <a:defRPr lang="en-us" sz="2400" cap="none">
                <a:solidFill>
                  <a:srgbClr val="8C8C8C"/>
                </a:solidFill>
              </a:defRPr>
            </a:lvl1pPr>
            <a:lvl2pPr marL="457200" indent="0">
              <a:buNone/>
              <a:defRPr lang="en-us" sz="2000" cap="none">
                <a:solidFill>
                  <a:srgbClr val="8C8C8C"/>
                </a:solidFill>
              </a:defRPr>
            </a:lvl2pPr>
            <a:lvl3pPr marL="914400" indent="0">
              <a:buNone/>
              <a:defRPr lang="en-us" sz="1800" cap="none">
                <a:solidFill>
                  <a:srgbClr val="8C8C8C"/>
                </a:solidFill>
              </a:defRPr>
            </a:lvl3pPr>
            <a:lvl4pPr marL="1371600" indent="0">
              <a:buNone/>
              <a:defRPr lang="en-us" sz="1600" cap="none">
                <a:solidFill>
                  <a:srgbClr val="8C8C8C"/>
                </a:solidFill>
              </a:defRPr>
            </a:lvl4pPr>
            <a:lvl5pPr marL="1828800" indent="0">
              <a:buNone/>
              <a:defRPr lang="en-us" sz="1600" cap="none">
                <a:solidFill>
                  <a:srgbClr val="8C8C8C"/>
                </a:solidFill>
              </a:defRPr>
            </a:lvl5pPr>
            <a:lvl6pPr marL="2286000" indent="0">
              <a:buNone/>
              <a:defRPr lang="en-us" sz="1600" cap="none">
                <a:solidFill>
                  <a:srgbClr val="8C8C8C"/>
                </a:solidFill>
              </a:defRPr>
            </a:lvl6pPr>
            <a:lvl7pPr marL="2743200" indent="0">
              <a:buNone/>
              <a:defRPr lang="en-us" sz="1600" cap="none">
                <a:solidFill>
                  <a:srgbClr val="8C8C8C"/>
                </a:solidFill>
              </a:defRPr>
            </a:lvl7pPr>
            <a:lvl8pPr marL="3200400" indent="0">
              <a:buNone/>
              <a:defRPr lang="en-us" sz="1600" cap="none">
                <a:solidFill>
                  <a:srgbClr val="8C8C8C"/>
                </a:solidFill>
              </a:defRPr>
            </a:lvl8pPr>
            <a:lvl9pPr marL="3657600" indent="0">
              <a:buNone/>
              <a:defRPr lang="en-us" sz="16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EBE5-ABD7-AC1D-9941-5D48A50F6F08}" type="datetime1">
              <a:t>1/12/2026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E9F0-BED7-AC1F-9941-484AA70F6F1D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iVw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ciJ3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AIJQAAACYAABAAAAAmAAAACAAAAAEAAAAAAAAA"/>
              </a:ext>
            </a:extLst>
          </p:cNvSpPr>
          <p:nvPr>
            <p:ph idx="1"/>
          </p:nvPr>
        </p:nvSpPr>
        <p:spPr>
          <a:xfrm>
            <a:off x="838200" y="1825625"/>
            <a:ext cx="5181600" cy="4351655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Cyw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CUAADsLAADYRQAAACYAABAAAAAmAAAACAAAAAEAAAAAAAAA"/>
              </a:ext>
            </a:extLst>
          </p:cNvSpPr>
          <p:nvPr>
            <p:ph idx="2"/>
          </p:nvPr>
        </p:nvSpPr>
        <p:spPr>
          <a:xfrm>
            <a:off x="6172200" y="1825625"/>
            <a:ext cx="5181600" cy="4351655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F9CC-82D7-AC0F-9941-745AB70F6F21}" type="datetime1">
              <a:t>1/12/2026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E353-1DD7-AC15-9941-EB40AD0F6FBE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D8CAADbRQAAZwoAABAAAAAmAAAACAAAAAEAAAAAAAAA"/>
              </a:ext>
            </a:extLst>
          </p:cNvSpPr>
          <p:nvPr>
            <p:ph type="title"/>
          </p:nvPr>
        </p:nvSpPr>
        <p:spPr>
          <a:xfrm>
            <a:off x="840105" y="365125"/>
            <a:ext cx="10515600" cy="1325880"/>
          </a:xfrm>
        </p:spPr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FgKAADlJAAAaQ8AABAAAAAmAAAACAAAAIGAAAAAAAAA"/>
              </a:ext>
            </a:extLst>
          </p:cNvSpPr>
          <p:nvPr>
            <p:ph idx="1"/>
          </p:nvPr>
        </p:nvSpPr>
        <p:spPr>
          <a:xfrm>
            <a:off x="840105" y="1681480"/>
            <a:ext cx="5157470" cy="82359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GkPAADlJAAAFCYAABAAAAAmAAAACAAAAAEAAAAAAAAA"/>
              </a:ext>
            </a:extLst>
          </p:cNvSpPr>
          <p:nvPr>
            <p:ph idx="2"/>
          </p:nvPr>
        </p:nvSpPr>
        <p:spPr>
          <a:xfrm>
            <a:off x="840105" y="2505075"/>
            <a:ext cx="5157470" cy="3684905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CUAAFgKAADbRQAAaQ8AABAAAAAmAAAACAAAAIGAAAAAAAAA"/>
              </a:ext>
            </a:extLst>
          </p:cNvSpPr>
          <p:nvPr>
            <p:ph idx="3"/>
          </p:nvPr>
        </p:nvSpPr>
        <p:spPr>
          <a:xfrm>
            <a:off x="6172200" y="1681480"/>
            <a:ext cx="5183505" cy="82359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CUAAGkPAADbRQAAFCYAABAAAAAmAAAACAAAAAEAAAAAAAAA"/>
              </a:ext>
            </a:extLst>
          </p:cNvSpPr>
          <p:nvPr>
            <p:ph idx="4"/>
          </p:nvPr>
        </p:nvSpPr>
        <p:spPr>
          <a:xfrm>
            <a:off x="6172200" y="2505075"/>
            <a:ext cx="5183505" cy="3684905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EF5C-12D7-AC19-9941-E44CA10F6FB1}" type="datetime1">
              <a:t>1/12/2026</a:t>
            </a:fld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FD12-5CD7-AC0B-9941-AA5EB30F6FFF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802D-63D7-AC76-9941-9523CE0F6FC0}" type="datetime1">
              <a:t>1/12/2026</a:t>
            </a:fld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A098-D6D7-AC56-9941-2003EE0F6F75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8B11-5FD7-AC7D-9941-A928C50F6FFC}" type="datetime1">
              <a:t>1/12/2026</a:t>
            </a:fld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E98A-C4D7-AC1F-9941-324AA70F6F67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NACAABbHQAAqAwAABAAAAAmAAAACAAAAIGAAAAAAAAA"/>
              </a:ext>
            </a:extLst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3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x8AABMGAADbRQAADiQAABAAAAAmAAAACAAAAAGAAAAAAAAA"/>
              </a:ext>
            </a:extLst>
          </p:cNvSpPr>
          <p:nvPr>
            <p:ph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>
              <a:defRPr lang="en-us" sz="3200" cap="none"/>
            </a:lvl1pPr>
            <a:lvl2pPr>
              <a:defRPr lang="en-us" sz="2800" cap="none"/>
            </a:lvl2pPr>
            <a:lvl3pPr>
              <a:defRPr lang="en-us" sz="2400" cap="none"/>
            </a:lvl3pPr>
            <a:lvl4pPr>
              <a:defRPr lang="en-us" sz="2000" cap="none"/>
            </a:lvl4pPr>
            <a:lvl5pPr>
              <a:defRPr lang="en-us" sz="2000" cap="none"/>
            </a:lvl5pPr>
            <a:lvl6pPr>
              <a:defRPr lang="en-us" sz="2000" cap="none"/>
            </a:lvl6pPr>
            <a:lvl7pPr>
              <a:defRPr lang="en-us" sz="2000" cap="none"/>
            </a:lvl7pPr>
            <a:lvl8pPr>
              <a:defRPr lang="en-us" sz="2000" cap="none"/>
            </a:lvl8pPr>
            <a:lvl9pPr>
              <a:defRPr lang="en-us" sz="2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KgMAABbHQAAGyQAABAAAAAmAAAACAAAAAGAAAAAAAAA"/>
              </a:ext>
            </a:extLst>
          </p:cNvSpPr>
          <p:nvPr>
            <p:ph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lang="en-us" sz="1600" cap="none"/>
            </a:lvl1pPr>
            <a:lvl2pPr marL="457200" indent="0">
              <a:buNone/>
              <a:defRPr lang="en-us" sz="1400" cap="none"/>
            </a:lvl2pPr>
            <a:lvl3pPr marL="914400" indent="0">
              <a:buNone/>
              <a:defRPr lang="en-us" sz="1200" cap="none"/>
            </a:lvl3pPr>
            <a:lvl4pPr marL="1371600" indent="0">
              <a:buNone/>
              <a:defRPr lang="en-us" sz="1000" cap="none"/>
            </a:lvl4pPr>
            <a:lvl5pPr marL="1828800" indent="0">
              <a:buNone/>
              <a:defRPr lang="en-us" sz="1000" cap="none"/>
            </a:lvl5pPr>
            <a:lvl6pPr marL="2286000" indent="0">
              <a:buNone/>
              <a:defRPr lang="en-us" sz="1000" cap="none"/>
            </a:lvl6pPr>
            <a:lvl7pPr marL="2743200" indent="0">
              <a:buNone/>
              <a:defRPr lang="en-us" sz="1000" cap="none"/>
            </a:lvl7pPr>
            <a:lvl8pPr marL="3200400" indent="0">
              <a:buNone/>
              <a:defRPr lang="en-us" sz="1000" cap="none"/>
            </a:lvl8pPr>
            <a:lvl9pPr marL="3657600" indent="0">
              <a:buNone/>
              <a:defRPr lang="en-us" sz="1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D19F-D1D7-AC27-9941-27729F0F6F72}" type="datetime1">
              <a:t>1/12/2026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EF12-5CD7-AC19-9941-AA4CA10F6FFF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NACAABbHQAAqAwAABAAAAAmAAAACAAAAIGAAAAAAAAA"/>
              </a:ext>
            </a:extLst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3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x8AABMGAADbRQAADiQAABAAAAAmAAAACAAAAAGAAAAAAAAA"/>
              </a:ext>
            </a:extLst>
          </p:cNvSpPr>
          <p:nvPr>
            <p:ph type="pic"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 marL="0" indent="0">
              <a:buNone/>
              <a:defRPr lang="en-us" sz="3200" cap="none"/>
            </a:lvl1pPr>
            <a:lvl2pPr marL="457200" indent="0">
              <a:buNone/>
              <a:defRPr lang="en-us" sz="2800" cap="none"/>
            </a:lvl2pPr>
            <a:lvl3pPr marL="914400" indent="0">
              <a:buNone/>
              <a:defRPr lang="en-us" sz="2400" cap="none"/>
            </a:lvl3pPr>
            <a:lvl4pPr marL="1371600" indent="0">
              <a:buNone/>
              <a:defRPr lang="en-us" sz="2000" cap="none"/>
            </a:lvl4pPr>
            <a:lvl5pPr marL="1828800" indent="0">
              <a:buNone/>
              <a:defRPr lang="en-us" sz="2000" cap="none"/>
            </a:lvl5pPr>
            <a:lvl6pPr marL="2286000" indent="0">
              <a:buNone/>
              <a:defRPr lang="en-us" sz="2000" cap="none"/>
            </a:lvl6pPr>
            <a:lvl7pPr marL="2743200" indent="0">
              <a:buNone/>
              <a:defRPr lang="en-us" sz="2000" cap="none"/>
            </a:lvl7pPr>
            <a:lvl8pPr marL="3200400" indent="0">
              <a:buNone/>
              <a:defRPr lang="en-us" sz="2000" cap="none"/>
            </a:lvl8pPr>
            <a:lvl9pPr marL="3657600" indent="0">
              <a:buNone/>
              <a:defRPr lang="en-us" sz="2000" cap="none"/>
            </a:lvl9pPr>
          </a:lstStyle>
          <a:p>
            <a:pPr>
              <a:defRPr lang="en-us"/>
            </a:pP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KgMAABbHQAAGyQAABAAAAAmAAAACAAAAAGAAAAAAAAA"/>
              </a:ext>
            </a:extLst>
          </p:cNvSpPr>
          <p:nvPr>
            <p:ph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lang="en-us" sz="1600" cap="none"/>
            </a:lvl1pPr>
            <a:lvl2pPr marL="457200" indent="0">
              <a:buNone/>
              <a:defRPr lang="en-us" sz="1400" cap="none"/>
            </a:lvl2pPr>
            <a:lvl3pPr marL="914400" indent="0">
              <a:buNone/>
              <a:defRPr lang="en-us" sz="1200" cap="none"/>
            </a:lvl3pPr>
            <a:lvl4pPr marL="1371600" indent="0">
              <a:buNone/>
              <a:defRPr lang="en-us" sz="1000" cap="none"/>
            </a:lvl4pPr>
            <a:lvl5pPr marL="1828800" indent="0">
              <a:buNone/>
              <a:defRPr lang="en-us" sz="1000" cap="none"/>
            </a:lvl5pPr>
            <a:lvl6pPr marL="2286000" indent="0">
              <a:buNone/>
              <a:defRPr lang="en-us" sz="1000" cap="none"/>
            </a:lvl6pPr>
            <a:lvl7pPr marL="2743200" indent="0">
              <a:buNone/>
              <a:defRPr lang="en-us" sz="1000" cap="none"/>
            </a:lvl7pPr>
            <a:lvl8pPr marL="3200400" indent="0">
              <a:buNone/>
              <a:defRPr lang="en-us" sz="1000" cap="none"/>
            </a:lvl8pPr>
            <a:lvl9pPr marL="3657600" indent="0">
              <a:buNone/>
              <a:defRPr lang="en-us" sz="1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E910-5ED7-AC1F-9941-A84AA70F6FFD}" type="datetime1">
              <a:t>1/12/2026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B506-48D7-AC43-9941-BE16FB0F6FEB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DYRQAAACY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93E9-A7D7-AC65-9941-5130DD0F6F04}" type="datetime1">
              <a:t>1/12/2026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B07F-31D7-AC46-9941-C713FE0F6F92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DUAAD8CAADYRQAAACYAABAAAAAmAAAACAAAAAMAAAAAAAAA"/>
              </a:ext>
            </a:extLst>
          </p:cNvSpPr>
          <p:nvPr>
            <p:ph type="title"/>
          </p:nvPr>
        </p:nvSpPr>
        <p:spPr>
          <a:xfrm>
            <a:off x="8724900" y="365125"/>
            <a:ext cx="2628900" cy="581215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C8NAAAACYAABAAAAAmAAAACAAAAAMAAAAAAAAA"/>
              </a:ext>
            </a:extLst>
          </p:cNvSpPr>
          <p:nvPr>
            <p:ph idx="1"/>
          </p:nvPr>
        </p:nvSpPr>
        <p:spPr>
          <a:xfrm>
            <a:off x="838200" y="365125"/>
            <a:ext cx="7734300" cy="581215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AF9ED14-5AD7-AC1B-9941-AC4EA30F6FF9}" type="datetime1">
              <a:t>1/12/2026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8CFF-B1D7-AC7A-9941-472FC20F6F12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AUAAD8CAADYRQAAZwoAABAAAAAmAAAACAAAAL8vAAAAAAAA"/>
              </a:ext>
            </a:extLst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AUAADsLAADYRQAAACYAABAAAAAmAAAACAAAAD8vAAAAAAAA"/>
              </a:ext>
            </a:extLst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BwcH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AUAABonAAAIFgAAWSkAABAAAAAmAAAACAAAAL+PAAAAAAAA"/>
              </a:ext>
            </a:extLst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3AF9A0F5-BBD7-AC56-9941-4D03EE0F6F18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vu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2BgAABonAAAoMgAAWSkAABAAAAAmAAAACAAAAL+PAAAAAAAA"/>
              </a:ext>
            </a:extLst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wgvA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+DQAABonAADYR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3AF9B139-77D7-AC47-9941-8112FF0F6FD4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" cap="none" spc="0" baseline="0">
          <a:solidFill>
            <a:schemeClr val="tx1"/>
          </a:solidFill>
          <a:effectLst/>
          <a:latin typeface="Calibri Light" pitchFamily="2" charset="0"/>
          <a:ea typeface="Calibri Light" pitchFamily="2" charset="0"/>
          <a:cs typeface="Calibri Light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685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coderun.ca/programming/yolo_faq/" TargetMode="External"/><Relationship Id="rId3" Type="http://schemas.openxmlformats.org/officeDocument/2006/relationships/hyperlink" Target="https://github.com/ultralytics/yolov5" TargetMode="External"/><Relationship Id="rId4" Type="http://schemas.openxmlformats.org/officeDocument/2006/relationships/hyperlink" Target="https://github.com/ultralytics/ultralytics" TargetMode="Externa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stephanecharette/DarkPlate" TargetMode="Externa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AkAAOgGAACgQQAAmBUAABAAAAAmAAAACAAAAAAAAAAAAAAA"/>
              </a:ext>
            </a:extLst>
          </p:cNvSpPr>
          <p:nvPr>
            <p:ph type="ctrTitle"/>
          </p:nvPr>
        </p:nvSpPr>
        <p:spPr/>
        <p:txBody>
          <a:bodyPr/>
          <a:lstStyle/>
          <a:p>
            <a:pPr>
              <a:defRPr lang="en-us"/>
            </a:pPr>
            <a:r>
              <a:t>Object Detection Models</a:t>
            </a: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AkAACkWAACgQQAAWCA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>
              <a:defRPr lang="en-us"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FBQ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Object Detection models</a:t>
            </a:r>
          </a:p>
          <a:p>
            <a:pPr>
              <a:defRPr lang="en-us"/>
            </a:pPr>
            <a:r>
              <a:t>recognize multiple objects in same image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wAMAANgJAABARwAAsCUAABAAAAAmAAAACAAAAAEgAAAAAAAA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ts val="920"/>
              </a:spcBef>
              <a:defRPr lang="en-us" sz="2575" cap="none"/>
            </a:pPr>
            <a:r>
              <a:rPr lang="en-us" sz="2210" cap="none"/>
              <a:t>YOLO - You Only Look Once - single stage/pass</a:t>
            </a:r>
            <a:endParaRPr lang="en-us" sz="2210" cap="none"/>
          </a:p>
          <a:p>
            <a:pPr lvl="1">
              <a:lnSpc>
                <a:spcPct val="80000"/>
              </a:lnSpc>
              <a:spcBef>
                <a:spcPts val="460"/>
              </a:spcBef>
              <a:defRPr lang="en-us" sz="2210" cap="none"/>
            </a:pPr>
            <a:r>
              <a:rPr lang="en-us" sz="1840" cap="none"/>
              <a:t>Darknet latest version is v4 but is continually being improved</a:t>
            </a:r>
            <a:endParaRPr lang="en-us" sz="1840" cap="none"/>
          </a:p>
          <a:p>
            <a:pPr lvl="2">
              <a:lnSpc>
                <a:spcPct val="80000"/>
              </a:lnSpc>
              <a:spcBef>
                <a:spcPts val="460"/>
              </a:spcBef>
              <a:defRPr lang="en-us" sz="1840" cap="none">
                <a:hlinkClick r:id="rId2"/>
              </a:defRPr>
            </a:pPr>
            <a:r>
              <a:rPr lang="en-us" sz="1655" cap="none">
                <a:hlinkClick r:id="rId2"/>
              </a:rPr>
              <a:t>https://www.ccoderun.ca/programming/yolo_faq/</a:t>
            </a:r>
            <a:endParaRPr lang="en-us" sz="1655" cap="none">
              <a:hlinkClick r:id="rId2"/>
            </a:endParaRPr>
          </a:p>
          <a:p>
            <a:pPr lvl="2">
              <a:lnSpc>
                <a:spcPct val="80000"/>
              </a:lnSpc>
              <a:spcBef>
                <a:spcPts val="460"/>
              </a:spcBef>
              <a:defRPr lang="en-us" sz="1840" cap="none"/>
            </a:pPr>
            <a:r>
              <a:rPr lang="en-us" sz="1655" cap="none"/>
              <a:t>https://github.com/hank-ai/darknet</a:t>
            </a:r>
            <a:endParaRPr lang="en-us" sz="1655" cap="none"/>
          </a:p>
          <a:p>
            <a:pPr lvl="1">
              <a:lnSpc>
                <a:spcPct val="80000"/>
              </a:lnSpc>
              <a:spcBef>
                <a:spcPts val="460"/>
              </a:spcBef>
              <a:defRPr lang="en-us" sz="2210" cap="none"/>
            </a:pPr>
            <a:r>
              <a:rPr lang="en-us" sz="1840" cap="none"/>
              <a:t>Non-Darknet versions are v5+</a:t>
            </a:r>
            <a:endParaRPr lang="en-us" sz="1840" cap="none"/>
          </a:p>
          <a:p>
            <a:pPr lvl="2">
              <a:lnSpc>
                <a:spcPct val="80000"/>
              </a:lnSpc>
              <a:spcBef>
                <a:spcPts val="460"/>
              </a:spcBef>
              <a:defRPr lang="en-us" sz="1840" cap="none"/>
            </a:pPr>
            <a:r>
              <a:rPr lang="en-us" sz="1655" cap="none"/>
              <a:t>*Note that Ultralytics does not own Yolo! You can make these models on your own, but they do provide pre-trained weights and super-easy python library (pay if commercial).</a:t>
            </a:r>
            <a:endParaRPr lang="en-us" sz="1655" cap="none"/>
          </a:p>
          <a:p>
            <a:pPr lvl="2">
              <a:lnSpc>
                <a:spcPct val="80000"/>
              </a:lnSpc>
              <a:spcBef>
                <a:spcPts val="460"/>
              </a:spcBef>
              <a:defRPr lang="en-us" sz="1840" cap="none"/>
            </a:pPr>
            <a:r>
              <a:rPr lang="en-us" sz="1655" cap="none"/>
              <a:t>v5: </a:t>
            </a:r>
            <a:r>
              <a:rPr lang="en-us" sz="1655" cap="none">
                <a:hlinkClick r:id="rId3"/>
              </a:rPr>
              <a:t>https://github.com/ultralytics/yolov5</a:t>
            </a:r>
            <a:endParaRPr lang="en-us" sz="1655" cap="none">
              <a:hlinkClick r:id="rId3"/>
            </a:endParaRPr>
          </a:p>
          <a:p>
            <a:pPr lvl="2">
              <a:lnSpc>
                <a:spcPct val="80000"/>
              </a:lnSpc>
              <a:spcBef>
                <a:spcPts val="460"/>
              </a:spcBef>
              <a:defRPr lang="en-us" sz="1840" cap="none"/>
            </a:pPr>
            <a:r>
              <a:rPr lang="en-us" sz="1655" cap="none"/>
              <a:t>v11: </a:t>
            </a:r>
            <a:r>
              <a:rPr lang="en-us" sz="1655" cap="none">
                <a:hlinkClick r:id="rId4"/>
              </a:rPr>
              <a:t>https://github.com/ultralytics/ultralytics</a:t>
            </a:r>
            <a:endParaRPr lang="en-us" sz="1655" cap="none">
              <a:hlinkClick r:id="rId4"/>
            </a:endParaRPr>
          </a:p>
          <a:p>
            <a:pPr lvl="2">
              <a:lnSpc>
                <a:spcPct val="80000"/>
              </a:lnSpc>
              <a:spcBef>
                <a:spcPts val="460"/>
              </a:spcBef>
              <a:defRPr lang="en-us" sz="1840" cap="none"/>
            </a:pPr>
            <a:endParaRPr lang="en-us" sz="1655" cap="none">
              <a:hlinkClick r:id="rId4"/>
            </a:endParaRPr>
          </a:p>
          <a:p>
            <a:pPr>
              <a:lnSpc>
                <a:spcPct val="80000"/>
              </a:lnSpc>
              <a:spcBef>
                <a:spcPts val="920"/>
              </a:spcBef>
              <a:defRPr lang="en-us" sz="2575" cap="none"/>
            </a:pPr>
            <a:r>
              <a:rPr lang="en-us" sz="2210" cap="none"/>
              <a:t>Faster R-CNN - multiple stage</a:t>
            </a:r>
            <a:endParaRPr lang="en-us" sz="2210" cap="none"/>
          </a:p>
          <a:p>
            <a:pPr lvl="2">
              <a:lnSpc>
                <a:spcPct val="80000"/>
              </a:lnSpc>
              <a:spcBef>
                <a:spcPts val="460"/>
              </a:spcBef>
              <a:defRPr lang="en-us" sz="1840" cap="none"/>
            </a:pPr>
            <a:r>
              <a:rPr lang="en-us" sz="1655" cap="none"/>
              <a:t>RPN (Region Proposal Network) first, then classifies from there.</a:t>
            </a:r>
            <a:endParaRPr lang="en-us" sz="1655" cap="none"/>
          </a:p>
          <a:p>
            <a:pPr lvl="2">
              <a:lnSpc>
                <a:spcPct val="80000"/>
              </a:lnSpc>
              <a:spcBef>
                <a:spcPts val="460"/>
              </a:spcBef>
              <a:defRPr lang="en-us" sz="1840" cap="none"/>
            </a:pPr>
            <a:r>
              <a:rPr lang="en-us" sz="1655" cap="none"/>
              <a:t>Slower but more accurate especially for complex scenes &amp; small overlapping</a:t>
            </a:r>
            <a:endParaRPr lang="en-us" sz="1655" cap="none"/>
          </a:p>
          <a:p>
            <a:pPr>
              <a:lnSpc>
                <a:spcPct val="80000"/>
              </a:lnSpc>
              <a:spcBef>
                <a:spcPts val="920"/>
              </a:spcBef>
              <a:defRPr lang="en-us" sz="2575" cap="none"/>
            </a:pPr>
            <a:r>
              <a:rPr lang="en-us" sz="2210" cap="none"/>
              <a:t>DETR - Detection Transformer</a:t>
            </a:r>
            <a:endParaRPr lang="en-us" sz="2210" cap="none"/>
          </a:p>
          <a:p>
            <a:pPr lvl="2">
              <a:lnSpc>
                <a:spcPct val="80000"/>
              </a:lnSpc>
              <a:spcBef>
                <a:spcPts val="460"/>
              </a:spcBef>
              <a:defRPr lang="en-us" sz="1840" cap="none"/>
            </a:pPr>
            <a:r>
              <a:rPr lang="en-us" sz="1655" cap="none"/>
              <a:t>Requires a lot of training data</a:t>
            </a:r>
            <a:endParaRPr lang="en-us" sz="1655" cap="none"/>
          </a:p>
          <a:p>
            <a:pPr>
              <a:lnSpc>
                <a:spcPct val="80000"/>
              </a:lnSpc>
              <a:spcBef>
                <a:spcPts val="920"/>
              </a:spcBef>
              <a:defRPr lang="en-us" sz="2575" cap="none"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Object Recognition Models Output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AAAAAAmAAAACAAAAAEAAAAAAAAA"/>
              </a:ext>
            </a:extLst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</p:spPr>
        <p:txBody>
          <a:bodyPr/>
          <a:lstStyle/>
          <a:p>
            <a:pPr>
              <a:defRPr lang="en-us"/>
            </a:pPr>
            <a:r>
              <a:t>Yolo v3/v4 output:</a:t>
            </a:r>
          </a:p>
          <a:p>
            <a:pPr lvl="1">
              <a:defRPr lang="en-us"/>
            </a:pPr>
            <a:r>
              <a:t>Class ID zero-based</a:t>
            </a:r>
          </a:p>
          <a:p>
            <a:pPr lvl="1">
              <a:defRPr lang="en-us"/>
            </a:pPr>
            <a:r>
              <a:t>Floating point confidence score</a:t>
            </a:r>
          </a:p>
          <a:p>
            <a:pPr lvl="1">
              <a:defRPr lang="en-us"/>
            </a:pPr>
            <a:r>
              <a:t>Bounding box: x, y, width, height</a:t>
            </a:r>
          </a:p>
          <a:p>
            <a:pPr lvl="2">
              <a:defRPr lang="en-us"/>
            </a:pPr>
            <a:r>
              <a:t>x,y might be relative to cell?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4DB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BonAAAIFg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>
              <a:defRPr lang="en-us"/>
            </a:pPr>
            <a:fld id="{3AF9A66F-21D7-AC50-9941-D705E80F6F82}" type="datetime1">
              <a:t>1/30/2026</a:t>
            </a:fld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AF9C2F9-B7D7-AC34-9941-41618C0F6F14}" type="slidenum">
              <a:t>3</a:t>
            </a:fld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AAAAAAmAAAACAAAAAEAAAAAAAAA"/>
              </a:ext>
            </a:extLst>
          </p:cNvSpPr>
          <p:nvPr>
            <p:ph type="title"/>
          </p:nvPr>
        </p:nvSpPr>
        <p:spPr>
          <a:xfrm>
            <a:off x="838200" y="365125"/>
            <a:ext cx="10515600" cy="1325880"/>
          </a:xfrm>
        </p:spPr>
        <p:txBody>
          <a:bodyPr/>
          <a:lstStyle/>
          <a:p>
            <a:pPr>
              <a:defRPr lang="en-us"/>
            </a:pPr>
            <a:r>
              <a:t>Yolo v3 uses three different scales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AAAAAAmAAAACAAAAAEAAAAAAAAA"/>
              </a:ext>
            </a:extLst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</p:spPr>
        <p:txBody>
          <a:bodyPr/>
          <a:lstStyle/>
          <a:p>
            <a:pPr>
              <a:defRPr lang="en-us"/>
            </a:pPr>
            <a:r>
              <a:t>There are 106 layers in the neural network, and the output is spit out at layers 82, 94, 106 (strides of 32, 16, 8)</a:t>
            </a:r>
          </a:p>
          <a:p>
            <a:pPr lvl="1">
              <a:defRPr lang="en-us"/>
            </a:pPr>
            <a:r>
              <a:t>Output stride 32 gives output grid of 13x13 for large objects (416x416 input)</a:t>
            </a:r>
          </a:p>
          <a:p>
            <a:pPr lvl="1">
              <a:defRPr lang="en-us"/>
            </a:pPr>
            <a:r>
              <a:t>Output stride 16 gives output grid of 26x26 for medium objects</a:t>
            </a:r>
          </a:p>
          <a:p>
            <a:pPr lvl="1">
              <a:defRPr lang="en-us"/>
            </a:pPr>
            <a:r>
              <a:t>Output stride 8 gives output grid of 52x52 for small object</a:t>
            </a:r>
          </a:p>
          <a:p>
            <a:pPr>
              <a:defRPr lang="en-us"/>
            </a:pPr>
            <a:r>
              <a:t>The output for each cell is b * (5+c) long = 3*(5+80) = 255</a:t>
            </a:r>
          </a:p>
          <a:p>
            <a:pPr lvl="1">
              <a:defRPr lang="en-us"/>
            </a:pPr>
            <a:r>
              <a:t>B = 3 number of bounding boxes predicted per cell</a:t>
            </a:r>
          </a:p>
          <a:p>
            <a:pPr lvl="1">
              <a:defRPr lang="en-us"/>
            </a:pPr>
            <a:r>
              <a:t>C = 80 number of classes it can detect</a:t>
            </a:r>
          </a:p>
          <a:p>
            <a:pPr lvl="1">
              <a:defRPr lang="en-us"/>
            </a:pPr>
            <a:r>
              <a:t>So the three different outputs are 13x13x255, 26x26x255, 52x52x255s</a:t>
            </a:r>
          </a:p>
          <a:p>
            <a:pPr lvl="2">
              <a:defRPr lang="en-us"/>
            </a:pPr>
            <a:r>
              <a:t>Each cell predicts 3 bounding boxes so each scale predicts: 507, 2028, 8112 b.b.’s</a:t>
            </a:r>
          </a:p>
          <a:p>
            <a:pPr lvl="1">
              <a:defRPr lang="en-us"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Darknet / DarkPlate on various computers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t>Darknet is working on all platforms, but GPU not used on:</a:t>
            </a:r>
          </a:p>
          <a:p>
            <a:pPr lvl="1">
              <a:defRPr lang="en-us"/>
            </a:pPr>
            <a:r>
              <a:t>Raspberry Pi w/AI Hat+</a:t>
            </a:r>
          </a:p>
          <a:p>
            <a:pPr lvl="1">
              <a:defRPr lang="en-us"/>
            </a:pPr>
            <a:r>
              <a:t>Windows computers</a:t>
            </a:r>
          </a:p>
          <a:p>
            <a:pPr lvl="2">
              <a:defRPr lang="en-us"/>
            </a:pPr>
            <a:r>
              <a:t>*Need to compile for GPU, not sure how</a:t>
            </a:r>
          </a:p>
          <a:p>
            <a:pPr>
              <a:defRPr lang="en-us"/>
            </a:pPr>
            <a:r>
              <a:t>Darknet &amp; DarkPlate work on Linux computers including Nvidia Jetson Orin Nano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License Plate Detection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+nJ9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rPr lang="en-us" cap="none">
                <a:hlinkClick r:id="rId2"/>
              </a:rPr>
              <a:t>https://github.com/stephanecharette/DarkPlate</a:t>
            </a:r>
          </a:p>
          <a:p>
            <a:pPr>
              <a:defRPr lang="en-us"/>
            </a:pPr>
            <a:r>
              <a:t>DarkPlate relies on DarkHelp which has helper functions for DarkNet</a:t>
            </a:r>
          </a:p>
          <a:p>
            <a:pPr lvl="1">
              <a:defRPr lang="en-us"/>
            </a:pPr>
            <a:r>
              <a:t>Build DarkNet first, then DarkHelp and the DarkPlate</a:t>
            </a:r>
          </a:p>
          <a:p>
            <a:pPr>
              <a:defRPr lang="en-us"/>
            </a:pPr>
            <a:r>
              <a:t>*Check how well it works on random images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Models</dc:title>
  <dc:subject/>
  <dc:creator>guy</dc:creator>
  <cp:keywords/>
  <dc:description/>
  <cp:lastModifiedBy>bluuu</cp:lastModifiedBy>
  <cp:revision>0</cp:revision>
  <dcterms:created xsi:type="dcterms:W3CDTF">2026-01-12T23:50:42Z</dcterms:created>
  <dcterms:modified xsi:type="dcterms:W3CDTF">2026-01-31T03:11:54Z</dcterms:modified>
</cp:coreProperties>
</file>